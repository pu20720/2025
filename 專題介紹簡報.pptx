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embeddedFontLst>
    <p:embeddedFont>
      <p:font typeface="OKBDKU+Iansui094-Regular"/>
      <p:regular r:id="rId15"/>
    </p:embeddedFont>
    <p:embeddedFont>
      <p:font typeface="ESJKRW+ArialUnicodeMS"/>
      <p:regular r:id="rId16"/>
    </p:embeddedFont>
    <p:embeddedFont>
      <p:font typeface="HUPJMR+Iansui094-Regular,Italic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font" Target="fonts/font1.fntdata" /><Relationship Id="rId16" Type="http://schemas.openxmlformats.org/officeDocument/2006/relationships/font" Target="fonts/font2.fntdata" /><Relationship Id="rId17" Type="http://schemas.openxmlformats.org/officeDocument/2006/relationships/font" Target="fonts/font3.fntdata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58000" y="4466463"/>
            <a:ext cx="6286500" cy="313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60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0">
                <a:solidFill>
                  <a:srgbClr val="000000"/>
                </a:solidFill>
                <a:latin typeface="OKBDKU+Iansui094-Regular"/>
                <a:cs typeface="OKBDKU+Iansui094-Regular"/>
              </a:rPr>
              <a:t>情境桌遊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243047" y="2139683"/>
            <a:ext cx="3911600" cy="18078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35"/>
              </a:lnSpc>
              <a:spcBef>
                <a:spcPts val="0"/>
              </a:spcBef>
              <a:spcAft>
                <a:spcPts val="0"/>
              </a:spcAft>
            </a:pPr>
            <a:r>
              <a:rPr dirty="0" sz="5600" spc="-168">
                <a:solidFill>
                  <a:srgbClr val="000000"/>
                </a:solidFill>
                <a:latin typeface="ESJKRW+ArialUnicodeMS"/>
                <a:cs typeface="ESJKRW+ArialUnicodeMS"/>
              </a:rPr>
              <a:t>設計動機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3047" y="3594013"/>
            <a:ext cx="3911600" cy="31516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35"/>
              </a:lnSpc>
              <a:spcBef>
                <a:spcPts val="0"/>
              </a:spcBef>
              <a:spcAft>
                <a:spcPts val="0"/>
              </a:spcAft>
            </a:pPr>
            <a:r>
              <a:rPr dirty="0" sz="5600" spc="-168">
                <a:solidFill>
                  <a:srgbClr val="000000"/>
                </a:solidFill>
                <a:latin typeface="ESJKRW+ArialUnicodeMS"/>
                <a:cs typeface="ESJKRW+ArialUnicodeMS"/>
              </a:rPr>
              <a:t>玩法介紹</a:t>
            </a:r>
          </a:p>
          <a:p>
            <a:pPr marL="0" marR="0">
              <a:lnSpc>
                <a:spcPts val="5835"/>
              </a:lnSpc>
              <a:spcBef>
                <a:spcPts val="4795"/>
              </a:spcBef>
              <a:spcAft>
                <a:spcPts val="0"/>
              </a:spcAft>
            </a:pPr>
            <a:r>
              <a:rPr dirty="0" sz="5600" spc="-168">
                <a:solidFill>
                  <a:srgbClr val="000000"/>
                </a:solidFill>
                <a:latin typeface="ESJKRW+ArialUnicodeMS"/>
                <a:cs typeface="ESJKRW+ArialUnicodeMS"/>
              </a:rPr>
              <a:t>未來展望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0113" y="3874917"/>
            <a:ext cx="3777995" cy="29576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5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0">
                <a:solidFill>
                  <a:srgbClr val="000000"/>
                </a:solidFill>
                <a:latin typeface="HUPJMR+Iansui094-Regular,Italic"/>
                <a:cs typeface="HUPJMR+Iansui094-Regular,Italic"/>
              </a:rPr>
              <a:t>目錄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03891" y="6440116"/>
            <a:ext cx="2568723" cy="18078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35"/>
              </a:lnSpc>
              <a:spcBef>
                <a:spcPts val="0"/>
              </a:spcBef>
              <a:spcAft>
                <a:spcPts val="0"/>
              </a:spcAft>
            </a:pPr>
            <a:r>
              <a:rPr dirty="0" sz="5600" spc="-173">
                <a:solidFill>
                  <a:srgbClr val="000000"/>
                </a:solidFill>
                <a:latin typeface="ESJKRW+ArialUnicodeMS"/>
                <a:cs typeface="ESJKRW+ArialUnicodeMS"/>
              </a:rP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96272" y="1321777"/>
            <a:ext cx="4540250" cy="2261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0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0">
                <a:solidFill>
                  <a:srgbClr val="000000"/>
                </a:solidFill>
                <a:latin typeface="HUPJMR+Iansui094-Regular,Italic"/>
                <a:cs typeface="HUPJMR+Iansui094-Regular,Italic"/>
              </a:rPr>
              <a:t>設計動機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7170" y="3342931"/>
            <a:ext cx="11910230" cy="49609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998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spc="-146">
                <a:solidFill>
                  <a:srgbClr val="000000"/>
                </a:solidFill>
                <a:latin typeface="ESJKRW+ArialUnicodeMS"/>
                <a:cs typeface="ESJKRW+ArialUnicodeMS"/>
              </a:rPr>
              <a:t>在學習程式的過程中，許多初學者會感</a:t>
            </a:r>
          </a:p>
          <a:p>
            <a:pPr marL="0" marR="0">
              <a:lnSpc>
                <a:spcPts val="4998"/>
              </a:lnSpc>
              <a:spcBef>
                <a:spcPts val="1717"/>
              </a:spcBef>
              <a:spcAft>
                <a:spcPts val="0"/>
              </a:spcAft>
            </a:pPr>
            <a:r>
              <a:rPr dirty="0" sz="4800" spc="-146">
                <a:solidFill>
                  <a:srgbClr val="000000"/>
                </a:solidFill>
                <a:latin typeface="ESJKRW+ArialUnicodeMS"/>
                <a:cs typeface="ESJKRW+ArialUnicodeMS"/>
              </a:rPr>
              <a:t>到抽象、艱澀，尤其是邏輯思考與步驟</a:t>
            </a:r>
          </a:p>
          <a:p>
            <a:pPr marL="0" marR="0">
              <a:lnSpc>
                <a:spcPts val="4998"/>
              </a:lnSpc>
              <a:spcBef>
                <a:spcPts val="1717"/>
              </a:spcBef>
              <a:spcAft>
                <a:spcPts val="0"/>
              </a:spcAft>
            </a:pPr>
            <a:r>
              <a:rPr dirty="0" sz="4800" spc="-146">
                <a:solidFill>
                  <a:srgbClr val="000000"/>
                </a:solidFill>
                <a:latin typeface="ESJKRW+ArialUnicodeMS"/>
                <a:cs typeface="ESJKRW+ArialUnicodeMS"/>
              </a:rPr>
              <a:t>判斷的部分。為了讓程式概念變得更直</a:t>
            </a:r>
          </a:p>
          <a:p>
            <a:pPr marL="0" marR="0">
              <a:lnSpc>
                <a:spcPts val="4998"/>
              </a:lnSpc>
              <a:spcBef>
                <a:spcPts val="1717"/>
              </a:spcBef>
              <a:spcAft>
                <a:spcPts val="0"/>
              </a:spcAft>
            </a:pPr>
            <a:r>
              <a:rPr dirty="0" sz="4800" spc="-146">
                <a:solidFill>
                  <a:srgbClr val="000000"/>
                </a:solidFill>
                <a:latin typeface="ESJKRW+ArialUnicodeMS"/>
                <a:cs typeface="ESJKRW+ArialUnicodeMS"/>
              </a:rPr>
              <a:t>覺、有趣，我們希望透過「桌遊」這種</a:t>
            </a:r>
          </a:p>
          <a:p>
            <a:pPr marL="1182878" marR="0">
              <a:lnSpc>
                <a:spcPts val="4998"/>
              </a:lnSpc>
              <a:spcBef>
                <a:spcPts val="1767"/>
              </a:spcBef>
              <a:spcAft>
                <a:spcPts val="0"/>
              </a:spcAft>
            </a:pPr>
            <a:r>
              <a:rPr dirty="0" sz="4800" spc="-146">
                <a:solidFill>
                  <a:srgbClr val="000000"/>
                </a:solidFill>
                <a:latin typeface="ESJKRW+ArialUnicodeMS"/>
                <a:cs typeface="ESJKRW+ArialUnicodeMS"/>
              </a:rPr>
              <a:t>高度互動、容易理解的方式。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70726" y="524147"/>
            <a:ext cx="5925911" cy="1936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25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0" spc="-180">
                <a:solidFill>
                  <a:srgbClr val="000000"/>
                </a:solidFill>
                <a:latin typeface="ESJKRW+ArialUnicodeMS"/>
                <a:cs typeface="ESJKRW+ArialUnicodeMS"/>
              </a:rPr>
              <a:t>玩法設計:地圖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83915" y="1735967"/>
            <a:ext cx="1777746" cy="1291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 spc="-120">
                <a:solidFill>
                  <a:srgbClr val="000000"/>
                </a:solidFill>
                <a:latin typeface="ESJKRW+ArialUnicodeMS"/>
                <a:cs typeface="ESJKRW+ArialUnicodeMS"/>
              </a:rPr>
              <a:t>初始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09477" y="3640822"/>
            <a:ext cx="3816476" cy="1291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 spc="-120">
                <a:solidFill>
                  <a:srgbClr val="000000"/>
                </a:solidFill>
                <a:latin typeface="ESJKRW+ArialUnicodeMS"/>
                <a:cs typeface="ESJKRW+ArialUnicodeMS"/>
              </a:rPr>
              <a:t>12</a:t>
            </a:r>
            <a:r>
              <a:rPr dirty="0" sz="4000" spc="-123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000">
                <a:solidFill>
                  <a:srgbClr val="000000"/>
                </a:solidFill>
                <a:latin typeface="ESJKRW+ArialUnicodeMS"/>
                <a:cs typeface="ESJKRW+ArialUnicodeMS"/>
              </a:rPr>
              <a:t>x</a:t>
            </a:r>
            <a:r>
              <a:rPr dirty="0" sz="4000" spc="-242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000" spc="-116">
                <a:solidFill>
                  <a:srgbClr val="000000"/>
                </a:solidFill>
                <a:latin typeface="ESJKRW+ArialUnicodeMS"/>
                <a:cs typeface="ESJKRW+ArialUnicodeMS"/>
              </a:rPr>
              <a:t>12小地圖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019521" y="4003457"/>
            <a:ext cx="3817084" cy="1291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 spc="-120">
                <a:solidFill>
                  <a:srgbClr val="000000"/>
                </a:solidFill>
                <a:latin typeface="ESJKRW+ArialUnicodeMS"/>
                <a:cs typeface="ESJKRW+ArialUnicodeMS"/>
              </a:rPr>
              <a:t>24</a:t>
            </a:r>
            <a:r>
              <a:rPr dirty="0" sz="4000" spc="-123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000">
                <a:solidFill>
                  <a:srgbClr val="000000"/>
                </a:solidFill>
                <a:latin typeface="ESJKRW+ArialUnicodeMS"/>
                <a:cs typeface="ESJKRW+ArialUnicodeMS"/>
              </a:rPr>
              <a:t>x</a:t>
            </a:r>
            <a:r>
              <a:rPr dirty="0" sz="4000" spc="-242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000" spc="-115">
                <a:solidFill>
                  <a:srgbClr val="000000"/>
                </a:solidFill>
                <a:latin typeface="ESJKRW+ArialUnicodeMS"/>
                <a:cs typeface="ESJKRW+ArialUnicodeMS"/>
              </a:rPr>
              <a:t>24大地圖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29148" y="6253760"/>
            <a:ext cx="1442592" cy="10481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250" spc="-104">
                <a:solidFill>
                  <a:srgbClr val="000000"/>
                </a:solidFill>
                <a:latin typeface="ESJKRW+ArialUnicodeMS"/>
                <a:cs typeface="ESJKRW+ArialUnicodeMS"/>
              </a:rPr>
              <a:t>最終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97132" y="7179015"/>
            <a:ext cx="3301365" cy="1291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 spc="-120">
                <a:solidFill>
                  <a:srgbClr val="000000"/>
                </a:solidFill>
                <a:latin typeface="ESJKRW+ArialUnicodeMS"/>
                <a:cs typeface="ESJKRW+ArialUnicodeMS"/>
              </a:rPr>
              <a:t>抵達中繼站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66693" y="7366460"/>
            <a:ext cx="2793492" cy="20022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 spc="-120">
                <a:solidFill>
                  <a:srgbClr val="000000"/>
                </a:solidFill>
                <a:latin typeface="ESJKRW+ArialUnicodeMS"/>
                <a:cs typeface="ESJKRW+ArialUnicodeMS"/>
              </a:rPr>
              <a:t>抵達終點</a:t>
            </a:r>
          </a:p>
          <a:p>
            <a:pPr marL="739330" marR="0">
              <a:lnSpc>
                <a:spcPts val="4166"/>
              </a:lnSpc>
              <a:spcBef>
                <a:spcPts val="1432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ESJKRW+ArialUnicodeMS"/>
                <a:cs typeface="ESJKRW+ArialUnicodeMS"/>
              </a:rPr>
              <a:t>且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566693" y="8788607"/>
            <a:ext cx="2793492" cy="1291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 spc="-120">
                <a:solidFill>
                  <a:srgbClr val="000000"/>
                </a:solidFill>
                <a:latin typeface="ESJKRW+ArialUnicodeMS"/>
                <a:cs typeface="ESJKRW+ArialUnicodeMS"/>
              </a:rPr>
              <a:t>能源＞０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2799" y="1521325"/>
            <a:ext cx="6349987" cy="2213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903"/>
              </a:lnSpc>
              <a:spcBef>
                <a:spcPts val="0"/>
              </a:spcBef>
              <a:spcAft>
                <a:spcPts val="0"/>
              </a:spcAft>
            </a:pPr>
            <a:r>
              <a:rPr dirty="0" sz="6350" spc="21">
                <a:solidFill>
                  <a:srgbClr val="000000"/>
                </a:solidFill>
                <a:latin typeface="OKBDKU+Iansui094-Regular"/>
                <a:cs typeface="OKBDKU+Iansui094-Regular"/>
              </a:rPr>
              <a:t>玩法設計:卡牌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81713" y="2352569"/>
            <a:ext cx="1422146" cy="1032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卡牌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94508" y="3600868"/>
            <a:ext cx="1256919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移動卡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736134" y="3600868"/>
            <a:ext cx="1256919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商店卡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898360" y="3600868"/>
            <a:ext cx="1815465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程式指令卡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339985" y="3600868"/>
            <a:ext cx="1815465" cy="21459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命運決定卡</a:t>
            </a:r>
          </a:p>
          <a:p>
            <a:pPr marL="419100" marR="0">
              <a:lnSpc>
                <a:spcPts val="2291"/>
              </a:lnSpc>
              <a:spcBef>
                <a:spcPts val="9014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地圖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099972" y="4841223"/>
            <a:ext cx="1412748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初始3張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27873" y="4982426"/>
            <a:ext cx="2310765" cy="1401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spc="-84">
                <a:solidFill>
                  <a:srgbClr val="000000"/>
                </a:solidFill>
                <a:latin typeface="ESJKRW+ArialUnicodeMS"/>
                <a:cs typeface="ESJKRW+ArialUnicodeMS"/>
              </a:rPr>
              <a:t>功能性卡牌</a:t>
            </a:r>
          </a:p>
          <a:p>
            <a:pPr marL="0" marR="0">
              <a:lnSpc>
                <a:spcPts val="2916"/>
              </a:lnSpc>
              <a:spcBef>
                <a:spcPts val="1002"/>
              </a:spcBef>
              <a:spcAft>
                <a:spcPts val="0"/>
              </a:spcAft>
            </a:pPr>
            <a:r>
              <a:rPr dirty="0" sz="2800" spc="-84">
                <a:solidFill>
                  <a:srgbClr val="000000"/>
                </a:solidFill>
                <a:latin typeface="ESJKRW+ArialUnicodeMS"/>
                <a:cs typeface="ESJKRW+ArialUnicodeMS"/>
              </a:rPr>
              <a:t>－移動卡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15108" y="5036739"/>
            <a:ext cx="1815465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初始各三張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37634" y="5036739"/>
            <a:ext cx="2653284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消耗能源進行購買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618960" y="5232256"/>
            <a:ext cx="2374011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每回合補齊３張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27873" y="5977852"/>
            <a:ext cx="1955291" cy="903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spc="-84">
                <a:solidFill>
                  <a:srgbClr val="000000"/>
                </a:solidFill>
                <a:latin typeface="ESJKRW+ArialUnicodeMS"/>
                <a:cs typeface="ESJKRW+ArialUnicodeMS"/>
              </a:rPr>
              <a:t>－商店卡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27873" y="6475565"/>
            <a:ext cx="2666238" cy="1401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spc="-84">
                <a:solidFill>
                  <a:srgbClr val="000000"/>
                </a:solidFill>
                <a:latin typeface="ESJKRW+ArialUnicodeMS"/>
                <a:cs typeface="ESJKRW+ArialUnicodeMS"/>
              </a:rPr>
              <a:t>－程式指令卡</a:t>
            </a:r>
          </a:p>
          <a:p>
            <a:pPr marL="0" marR="0">
              <a:lnSpc>
                <a:spcPts val="2916"/>
              </a:lnSpc>
              <a:spcBef>
                <a:spcPts val="1002"/>
              </a:spcBef>
              <a:spcAft>
                <a:spcPts val="0"/>
              </a:spcAft>
            </a:pPr>
            <a:r>
              <a:rPr dirty="0" sz="2800" spc="-84">
                <a:solidFill>
                  <a:srgbClr val="000000"/>
                </a:solidFill>
                <a:latin typeface="ESJKRW+ArialUnicodeMS"/>
                <a:cs typeface="ESJKRW+ArialUnicodeMS"/>
              </a:rPr>
              <a:t>－命運決定卡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758660" y="6497586"/>
            <a:ext cx="2094738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己方回合可用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596008" y="6693101"/>
            <a:ext cx="2653284" cy="11011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使用無上限每回合</a:t>
            </a:r>
          </a:p>
          <a:p>
            <a:pPr marL="838200" marR="0">
              <a:lnSpc>
                <a:spcPts val="2291"/>
              </a:lnSpc>
              <a:spcBef>
                <a:spcPts val="787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補齊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317034" y="6888618"/>
            <a:ext cx="7703230" cy="11011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己方回合可用</a:t>
            </a:r>
            <a:r>
              <a:rPr dirty="0" sz="2200" spc="3220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一回合最多使用２</a:t>
            </a:r>
            <a:r>
              <a:rPr dirty="0" sz="2200" spc="2122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獲取後立即使用</a:t>
            </a:r>
          </a:p>
          <a:p>
            <a:pPr marL="3140126" marR="0">
              <a:lnSpc>
                <a:spcPts val="2291"/>
              </a:lnSpc>
              <a:spcBef>
                <a:spcPts val="787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張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75408" y="8847934"/>
            <a:ext cx="2094738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移動主要手段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596434" y="8847934"/>
            <a:ext cx="1536192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玩家攻防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038060" y="8847934"/>
            <a:ext cx="1536192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輔助玩家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5479685" y="8847934"/>
            <a:ext cx="1536192" cy="71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>
                <a:solidFill>
                  <a:srgbClr val="000000"/>
                </a:solidFill>
                <a:latin typeface="ESJKRW+ArialUnicodeMS"/>
                <a:cs typeface="ESJKRW+ArialUnicodeMS"/>
              </a:rPr>
              <a:t>有好有壞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005294" y="2287841"/>
            <a:ext cx="4266057" cy="1032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觸發條件：位置重疊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05294" y="3621690"/>
            <a:ext cx="4389627" cy="23668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spc="-98">
                <a:solidFill>
                  <a:srgbClr val="000000"/>
                </a:solidFill>
                <a:latin typeface="ESJKRW+ArialUnicodeMS"/>
                <a:cs typeface="ESJKRW+ArialUnicodeMS"/>
              </a:rPr>
              <a:t>Step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1.</a:t>
            </a:r>
            <a:r>
              <a:rPr dirty="0" sz="3200" spc="694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雙方投擲骰子</a:t>
            </a:r>
          </a:p>
          <a:p>
            <a:pPr marL="0" marR="0">
              <a:lnSpc>
                <a:spcPts val="3333"/>
              </a:lnSpc>
              <a:spcBef>
                <a:spcPts val="7169"/>
              </a:spcBef>
              <a:spcAft>
                <a:spcPts val="0"/>
              </a:spcAft>
            </a:pPr>
            <a:r>
              <a:rPr dirty="0" sz="3200" spc="-98">
                <a:solidFill>
                  <a:srgbClr val="000000"/>
                </a:solidFill>
                <a:latin typeface="ESJKRW+ArialUnicodeMS"/>
                <a:cs typeface="ESJKRW+ArialUnicodeMS"/>
              </a:rPr>
              <a:t>Step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2.</a:t>
            </a:r>
            <a:r>
              <a:rPr dirty="0" sz="3200" spc="-98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計算差值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2049" y="4470004"/>
            <a:ext cx="7505700" cy="20878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4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0">
                <a:solidFill>
                  <a:srgbClr val="000000"/>
                </a:solidFill>
                <a:latin typeface="HUPJMR+Iansui094-Regular,Italic"/>
                <a:cs typeface="HUPJMR+Iansui094-Regular,Italic"/>
              </a:rPr>
              <a:t>玩法設計:玩家對抗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05294" y="6289406"/>
            <a:ext cx="6597515" cy="23667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spc="-98">
                <a:solidFill>
                  <a:srgbClr val="000000"/>
                </a:solidFill>
                <a:latin typeface="ESJKRW+ArialUnicodeMS"/>
                <a:cs typeface="ESJKRW+ArialUnicodeMS"/>
              </a:rPr>
              <a:t>Step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3-1.</a:t>
            </a:r>
            <a:r>
              <a:rPr dirty="0" sz="3200" spc="-104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差值&gt;0</a:t>
            </a:r>
            <a:r>
              <a:rPr dirty="0" sz="3200" spc="-103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則奪取差值能源</a:t>
            </a:r>
          </a:p>
          <a:p>
            <a:pPr marL="0" marR="0">
              <a:lnSpc>
                <a:spcPts val="3333"/>
              </a:lnSpc>
              <a:spcBef>
                <a:spcPts val="7169"/>
              </a:spcBef>
              <a:spcAft>
                <a:spcPts val="0"/>
              </a:spcAft>
            </a:pPr>
            <a:r>
              <a:rPr dirty="0" sz="3200" spc="-98">
                <a:solidFill>
                  <a:srgbClr val="000000"/>
                </a:solidFill>
                <a:latin typeface="ESJKRW+ArialUnicodeMS"/>
                <a:cs typeface="ESJKRW+ArialUnicodeMS"/>
              </a:rPr>
              <a:t>Step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3-2.</a:t>
            </a:r>
            <a:r>
              <a:rPr dirty="0" sz="3200" spc="-104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差值&lt;0</a:t>
            </a:r>
            <a:r>
              <a:rPr dirty="0" sz="3200" spc="-103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3200" spc="-96">
                <a:solidFill>
                  <a:srgbClr val="000000"/>
                </a:solidFill>
                <a:latin typeface="ESJKRW+ArialUnicodeMS"/>
                <a:cs typeface="ESJKRW+ArialUnicodeMS"/>
              </a:rPr>
              <a:t>沒有損失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44495" y="1061754"/>
            <a:ext cx="4546667" cy="22781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11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50" spc="-56">
                <a:solidFill>
                  <a:srgbClr val="000000"/>
                </a:solidFill>
                <a:latin typeface="HUPJMR+Iansui094-Regular,Italic"/>
                <a:cs typeface="HUPJMR+Iansui094-Regular,Italic"/>
              </a:rPr>
              <a:t>未來展望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2713" y="3139072"/>
            <a:ext cx="9151351" cy="46893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>
                <a:solidFill>
                  <a:srgbClr val="000000"/>
                </a:solidFill>
                <a:latin typeface="ESJKRW+ArialUnicodeMS"/>
                <a:cs typeface="ESJKRW+ArialUnicodeMS"/>
              </a:rPr>
              <a:t>•</a:t>
            </a:r>
            <a:r>
              <a:rPr dirty="0" sz="4800" spc="1038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750" spc="-126">
                <a:solidFill>
                  <a:srgbClr val="000000"/>
                </a:solidFill>
                <a:latin typeface="ESJKRW+ArialUnicodeMS"/>
                <a:cs typeface="ESJKRW+ArialUnicodeMS"/>
              </a:rPr>
              <a:t>設計教師教案、教學指引，</a:t>
            </a:r>
          </a:p>
          <a:p>
            <a:pPr marL="514607" marR="0">
              <a:lnSpc>
                <a:spcPts val="4967"/>
              </a:lnSpc>
              <a:spcBef>
                <a:spcPts val="1219"/>
              </a:spcBef>
              <a:spcAft>
                <a:spcPts val="0"/>
              </a:spcAft>
            </a:pPr>
            <a:r>
              <a:rPr dirty="0" sz="4750" spc="-126">
                <a:solidFill>
                  <a:srgbClr val="000000"/>
                </a:solidFill>
                <a:latin typeface="ESJKRW+ArialUnicodeMS"/>
                <a:cs typeface="ESJKRW+ArialUnicodeMS"/>
              </a:rPr>
              <a:t>讓老師能在課堂上直接使用</a:t>
            </a:r>
          </a:p>
          <a:p>
            <a:pPr marL="0" marR="0">
              <a:lnSpc>
                <a:spcPts val="5019"/>
              </a:lnSpc>
              <a:spcBef>
                <a:spcPts val="1187"/>
              </a:spcBef>
              <a:spcAft>
                <a:spcPts val="0"/>
              </a:spcAft>
            </a:pPr>
            <a:r>
              <a:rPr dirty="0" sz="4800">
                <a:solidFill>
                  <a:srgbClr val="000000"/>
                </a:solidFill>
                <a:latin typeface="ESJKRW+ArialUnicodeMS"/>
                <a:cs typeface="ESJKRW+ArialUnicodeMS"/>
              </a:rPr>
              <a:t>•</a:t>
            </a:r>
            <a:r>
              <a:rPr dirty="0" sz="4800" spc="1038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750" spc="-133">
                <a:solidFill>
                  <a:srgbClr val="000000"/>
                </a:solidFill>
                <a:latin typeface="ESJKRW+ArialUnicodeMS"/>
                <a:cs typeface="ESJKRW+ArialUnicodeMS"/>
              </a:rPr>
              <a:t>與學校、社團、STEAM</a:t>
            </a:r>
            <a:r>
              <a:rPr dirty="0" sz="4750" spc="-125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750" spc="-126">
                <a:solidFill>
                  <a:srgbClr val="000000"/>
                </a:solidFill>
                <a:latin typeface="ESJKRW+ArialUnicodeMS"/>
                <a:cs typeface="ESJKRW+ArialUnicodeMS"/>
              </a:rPr>
              <a:t>教育</a:t>
            </a:r>
          </a:p>
          <a:p>
            <a:pPr marL="514607" marR="0">
              <a:lnSpc>
                <a:spcPts val="4967"/>
              </a:lnSpc>
              <a:spcBef>
                <a:spcPts val="1219"/>
              </a:spcBef>
              <a:spcAft>
                <a:spcPts val="0"/>
              </a:spcAft>
            </a:pPr>
            <a:r>
              <a:rPr dirty="0" sz="4750" spc="-126">
                <a:solidFill>
                  <a:srgbClr val="000000"/>
                </a:solidFill>
                <a:latin typeface="ESJKRW+ArialUnicodeMS"/>
                <a:cs typeface="ESJKRW+ArialUnicodeMS"/>
              </a:rPr>
              <a:t>單位合作，讓桌遊成為</a:t>
            </a:r>
            <a:r>
              <a:rPr dirty="0" sz="4750" spc="-183">
                <a:solidFill>
                  <a:srgbClr val="000000"/>
                </a:solidFill>
                <a:latin typeface="ESJKRW+ArialUnicodeMS"/>
                <a:cs typeface="ESJKRW+ArialUnicodeMS"/>
              </a:rPr>
              <a:t> </a:t>
            </a:r>
            <a:r>
              <a:rPr dirty="0" sz="4750" spc="-126">
                <a:solidFill>
                  <a:srgbClr val="000000"/>
                </a:solidFill>
                <a:latin typeface="ESJKRW+ArialUnicodeMS"/>
                <a:cs typeface="ESJKRW+ArialUnicodeMS"/>
              </a:rPr>
              <a:t>入門</a:t>
            </a:r>
          </a:p>
          <a:p>
            <a:pPr marL="514607" marR="0">
              <a:lnSpc>
                <a:spcPts val="4967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4750" spc="-126">
                <a:solidFill>
                  <a:srgbClr val="000000"/>
                </a:solidFill>
                <a:latin typeface="ESJKRW+ArialUnicodeMS"/>
                <a:cs typeface="ESJKRW+ArialUnicodeMS"/>
              </a:rPr>
              <a:t>程式邏輯的教具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83137" y="4811759"/>
            <a:ext cx="3210636" cy="22596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292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0" spc="-216">
                <a:solidFill>
                  <a:srgbClr val="000000"/>
                </a:solidFill>
                <a:latin typeface="ESJKRW+ArialUnicodeMS"/>
                <a:cs typeface="ESJKRW+ArialUnicodeMS"/>
              </a:rPr>
              <a:t>Q&amp;A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04075" y="3609250"/>
            <a:ext cx="6356306" cy="45235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118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0">
                <a:solidFill>
                  <a:srgbClr val="000000"/>
                </a:solidFill>
                <a:latin typeface="OKBDKU+Iansui094-Regular"/>
                <a:cs typeface="OKBDKU+Iansui094-Regular"/>
              </a:rPr>
              <a:t>謝謝!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pdfcandle</dc:creator>
  <cp:lastModifiedBy>pdfcandle</cp:lastModifiedBy>
  <cp:revision>1</cp:revision>
  <dcterms:modified xsi:type="dcterms:W3CDTF">2025-12-02T06:34:12-07:00</dcterms:modified>
</cp:coreProperties>
</file>