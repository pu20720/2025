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91" r:id="rId3"/>
    <p:sldId id="259" r:id="rId4"/>
    <p:sldId id="263" r:id="rId5"/>
    <p:sldId id="287" r:id="rId6"/>
    <p:sldId id="288" r:id="rId7"/>
    <p:sldId id="289" r:id="rId8"/>
    <p:sldId id="277" r:id="rId9"/>
    <p:sldId id="269" r:id="rId10"/>
    <p:sldId id="271" r:id="rId11"/>
    <p:sldId id="270" r:id="rId12"/>
    <p:sldId id="260" r:id="rId13"/>
    <p:sldId id="280" r:id="rId14"/>
    <p:sldId id="281" r:id="rId15"/>
    <p:sldId id="282" r:id="rId16"/>
    <p:sldId id="290" r:id="rId17"/>
    <p:sldId id="286" r:id="rId18"/>
    <p:sldId id="267" r:id="rId19"/>
    <p:sldId id="274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3BD"/>
    <a:srgbClr val="86B446"/>
    <a:srgbClr val="D9541A"/>
    <a:srgbClr val="4DBFED"/>
    <a:srgbClr val="A3142E"/>
    <a:srgbClr val="EDB021"/>
    <a:srgbClr val="7D2E8F"/>
    <a:srgbClr val="006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56BA77-BB59-ECDB-AC03-25E397DF9BCA}" v="188" dt="2025-11-25T06:16:26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3" autoAdjust="0"/>
    <p:restoredTop sz="94660"/>
  </p:normalViewPr>
  <p:slideViewPr>
    <p:cSldViewPr snapToGrid="0">
      <p:cViewPr varScale="1">
        <p:scale>
          <a:sx n="74" d="100"/>
          <a:sy n="74" d="100"/>
        </p:scale>
        <p:origin x="43" y="10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BF830-F4FB-42A2-AB23-3FCE72C7DD52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23417-8ABB-492A-91FA-085AF593C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8932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23417-8ABB-492A-91FA-085AF593C48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676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1E774-57AE-C08E-8BDF-033E385C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AE463C5-8232-C3D4-019B-E996346C9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A50BB4-853B-F969-A7DC-34C75E83D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DD404F-9888-CD5C-74A5-0B72E1F5D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23417-8ABB-492A-91FA-085AF593C48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2835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602B3-DF20-F8A6-6B83-52CF90AE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1E2201F-FB5F-BCAA-8D20-6B95AAE55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8B4C2FE-6CA9-8A60-01DD-BB1AE0662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AEC54E-A763-0258-9384-633377CF9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23417-8ABB-492A-91FA-085AF593C48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5173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71E1E-76F7-679C-CC31-97C6B921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88F2291-3764-2D2F-6E22-8FF99233B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A8475F3A-D154-800D-77E9-1860683ED4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b="1" dirty="0"/>
                  <a:t>🔹 補充說明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ar-AE" altLang="zh-TW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zh-TW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TW" altLang="en-US" dirty="0"/>
                  <a:t>在第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zh-TW" altLang="en-US" dirty="0"/>
                  <a:t>層、第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zh-TW" altLang="en-US" dirty="0"/>
                  <a:t>幀的圖嵌入。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  <m:r>
                          <a:rPr lang="ar-AE" altLang="zh-TW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ar-AE" altLang="zh-TW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zh-TW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lang="zh-TW" altLang="en-US" dirty="0"/>
                  <a:t>傳給節點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TW" altLang="en-US" dirty="0"/>
                  <a:t>的訊息。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ar-AE" altLang="zh-TW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zh-TW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TW" altLang="en-US" dirty="0"/>
                  <a:t>聚合鄰居訊息的結果。</a:t>
                </a:r>
              </a:p>
              <a:p>
                <a14:m>
                  <m:oMath xmlns:m="http://schemas.openxmlformats.org/officeDocument/2006/math">
                    <m:r>
                      <a:rPr lang="zh-TW" alt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𝒩</m:t>
                    </m:r>
                    <m:d>
                      <m:d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e>
                    </m:d>
                  </m:oMath>
                </a14:m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TW" altLang="en-US" dirty="0"/>
                  <a:t>的鄰居集合。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Φ</m:t>
                    </m:r>
                    <m:r>
                      <a:rPr lang="el-GR" altLang="zh-TW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lang="zh-TW" altLang="el-GR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𝑈</m:t>
                    </m:r>
                    <m:r>
                      <a:rPr lang="el-GR" altLang="zh-TW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TW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Ω</m:t>
                    </m:r>
                  </m:oMath>
                </a14:m>
                <a:r>
                  <a:rPr lang="zh-TW" altLang="el-GR" dirty="0"/>
                  <a:t>：</a:t>
                </a:r>
                <a:r>
                  <a:rPr lang="zh-TW" altLang="en-US" dirty="0"/>
                  <a:t>分別對應訊息生成、嵌入更新、輸出推斷的 </a:t>
                </a:r>
                <a:r>
                  <a:rPr lang="en-US" altLang="zh-TW" dirty="0"/>
                  <a:t>FNN</a:t>
                </a:r>
                <a:r>
                  <a:rPr lang="zh-TW" altLang="en-US" dirty="0"/>
                  <a:t>。</a:t>
                </a:r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A8475F3A-D154-800D-77E9-1860683ED4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b="1" dirty="0"/>
                  <a:t>🔹 補充說明</a:t>
                </a:r>
              </a:p>
              <a:p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𝑖^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𝑛)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 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TW" altLang="en-US" dirty="0"/>
                  <a:t>在第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</a:t>
                </a:r>
                <a:r>
                  <a:rPr lang="zh-TW" altLang="en-US" dirty="0"/>
                  <a:t>層、第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zh-TW" altLang="en-US" dirty="0"/>
                  <a:t>幀的圖嵌入。</a:t>
                </a:r>
              </a:p>
              <a:p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𝑛)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 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zh-TW" altLang="en-US" dirty="0"/>
                  <a:t>傳給節點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TW" altLang="en-US" dirty="0"/>
                  <a:t>的訊息。</a:t>
                </a:r>
              </a:p>
              <a:p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𝑖^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𝑛)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 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TW" altLang="en-US" dirty="0"/>
                  <a:t>聚合鄰居訊息的結果。</a:t>
                </a:r>
              </a:p>
              <a:p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𝒩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𝑖)</a:t>
                </a:r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TW" altLang="en-US" dirty="0"/>
                  <a:t>的鄰居集合。</a:t>
                </a:r>
              </a:p>
              <a:p>
                <a:r>
                  <a:rPr lang="el-GR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Φ,</a:t>
                </a:r>
                <a:r>
                  <a:rPr lang="zh-TW" alt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𝑈</a:t>
                </a:r>
                <a:r>
                  <a:rPr lang="el-GR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,Ω</a:t>
                </a:r>
                <a:r>
                  <a:rPr lang="zh-TW" altLang="el-GR" dirty="0"/>
                  <a:t>：</a:t>
                </a:r>
                <a:r>
                  <a:rPr lang="zh-TW" altLang="en-US" dirty="0"/>
                  <a:t>分別對應訊息生成、嵌入更新、輸出推斷的 </a:t>
                </a:r>
                <a:r>
                  <a:rPr lang="en-US" altLang="zh-TW" dirty="0"/>
                  <a:t>FNN</a:t>
                </a:r>
                <a:r>
                  <a:rPr lang="zh-TW" altLang="en-US" dirty="0"/>
                  <a:t>。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D7C78B-C827-8F6F-D236-C01D657B2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23417-8ABB-492A-91FA-085AF593C48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624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b="1" dirty="0"/>
                  <a:t>🔹 補充說明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ar-AE" altLang="zh-TW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zh-TW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TW" altLang="en-US" dirty="0"/>
                  <a:t>在第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zh-TW" altLang="en-US" dirty="0"/>
                  <a:t>層、第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zh-TW" altLang="en-US" dirty="0"/>
                  <a:t>幀的圖嵌入。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  <m:r>
                          <a:rPr lang="ar-AE" altLang="zh-TW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ar-AE" altLang="zh-TW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zh-TW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lang="zh-TW" altLang="en-US" dirty="0"/>
                  <a:t>傳給節點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TW" altLang="en-US" dirty="0"/>
                  <a:t>的訊息。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ar-AE" altLang="zh-TW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zh-TW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TW" altLang="en-US" dirty="0"/>
                  <a:t>聚合鄰居訊息的結果。</a:t>
                </a:r>
              </a:p>
              <a:p>
                <a14:m>
                  <m:oMath xmlns:m="http://schemas.openxmlformats.org/officeDocument/2006/math">
                    <m:r>
                      <a:rPr lang="zh-TW" alt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𝒩</m:t>
                    </m:r>
                    <m:d>
                      <m:d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e>
                    </m:d>
                  </m:oMath>
                </a14:m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TW" altLang="en-US" dirty="0"/>
                  <a:t>的鄰居集合。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Φ</m:t>
                    </m:r>
                    <m:r>
                      <a:rPr lang="el-GR" altLang="zh-TW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lang="zh-TW" altLang="el-GR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𝑈</m:t>
                    </m:r>
                    <m:r>
                      <a:rPr lang="el-GR" altLang="zh-TW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TW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Ω</m:t>
                    </m:r>
                  </m:oMath>
                </a14:m>
                <a:r>
                  <a:rPr lang="zh-TW" altLang="el-GR" dirty="0"/>
                  <a:t>：</a:t>
                </a:r>
                <a:r>
                  <a:rPr lang="zh-TW" altLang="en-US" dirty="0"/>
                  <a:t>分別對應訊息生成、嵌入更新、輸出推斷的 </a:t>
                </a:r>
                <a:r>
                  <a:rPr lang="en-US" altLang="zh-TW" dirty="0"/>
                  <a:t>FNN</a:t>
                </a:r>
                <a:r>
                  <a:rPr lang="zh-TW" altLang="en-US" dirty="0"/>
                  <a:t>。</a:t>
                </a:r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b="1" dirty="0"/>
                  <a:t>🔹 補充說明</a:t>
                </a:r>
              </a:p>
              <a:p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𝑖^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𝑛)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 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TW" altLang="en-US" dirty="0"/>
                  <a:t>在第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</a:t>
                </a:r>
                <a:r>
                  <a:rPr lang="zh-TW" altLang="en-US" dirty="0"/>
                  <a:t>層、第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zh-TW" altLang="en-US" dirty="0"/>
                  <a:t>幀的圖嵌入。</a:t>
                </a:r>
              </a:p>
              <a:p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𝑛)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 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zh-TW" altLang="en-US" dirty="0"/>
                  <a:t>傳給節點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TW" altLang="en-US" dirty="0"/>
                  <a:t>的訊息。</a:t>
                </a:r>
              </a:p>
              <a:p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𝑖^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𝑛)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 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TW" altLang="en-US" dirty="0"/>
                  <a:t>聚合鄰居訊息的結果。</a:t>
                </a:r>
              </a:p>
              <a:p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𝒩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𝑖)</a:t>
                </a:r>
                <a:r>
                  <a:rPr lang="zh-TW" altLang="ar-AE" dirty="0"/>
                  <a:t>：</a:t>
                </a:r>
                <a:r>
                  <a:rPr lang="zh-TW" altLang="en-US" dirty="0"/>
                  <a:t>節點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TW" altLang="en-US" dirty="0"/>
                  <a:t>的鄰居集合。</a:t>
                </a:r>
              </a:p>
              <a:p>
                <a:r>
                  <a:rPr lang="el-GR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Φ,</a:t>
                </a:r>
                <a:r>
                  <a:rPr lang="zh-TW" alt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𝑈</a:t>
                </a:r>
                <a:r>
                  <a:rPr lang="el-GR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,Ω</a:t>
                </a:r>
                <a:r>
                  <a:rPr lang="zh-TW" altLang="el-GR" dirty="0"/>
                  <a:t>：</a:t>
                </a:r>
                <a:r>
                  <a:rPr lang="zh-TW" altLang="en-US" dirty="0"/>
                  <a:t>分別對應訊息生成、嵌入更新、輸出推斷的 </a:t>
                </a:r>
                <a:r>
                  <a:rPr lang="en-US" altLang="zh-TW" dirty="0"/>
                  <a:t>FNN</a:t>
                </a:r>
                <a:r>
                  <a:rPr lang="zh-TW" altLang="en-US" dirty="0"/>
                  <a:t>。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23417-8ABB-492A-91FA-085AF593C48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151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35B7B-4280-9CEF-54BC-724A38CE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0573337-9A54-B486-53A5-973A3E1C7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6CFD000-D37D-1839-8B9A-859C5AD11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本模組採用 </a:t>
            </a:r>
            <a:r>
              <a:rPr lang="en-US" altLang="zh-TW" dirty="0"/>
              <a:t>kernel-based </a:t>
            </a:r>
            <a:r>
              <a:rPr lang="zh-TW" altLang="en-US" dirty="0"/>
              <a:t>線性注意力近似，僅需一次 </a:t>
            </a:r>
            <a:r>
              <a:rPr lang="en-US" altLang="zh-TW" dirty="0"/>
              <a:t>OTA </a:t>
            </a:r>
            <a:r>
              <a:rPr lang="zh-TW" altLang="en-US" dirty="0"/>
              <a:t>聚合即可完成全域上下文建模，無需額外訊號交換，完全符合 </a:t>
            </a:r>
            <a:r>
              <a:rPr lang="en-US" altLang="zh-TW" dirty="0" err="1"/>
              <a:t>mURLLC</a:t>
            </a:r>
            <a:r>
              <a:rPr lang="en-US" altLang="zh-TW" dirty="0"/>
              <a:t> </a:t>
            </a:r>
            <a:r>
              <a:rPr lang="zh-TW" altLang="en-US" dirty="0"/>
              <a:t>的延遲與同步要求。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2061B6-9A7E-8C75-7526-7A4185136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23417-8ABB-492A-91FA-085AF593C48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712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F1922-5A89-57AB-3C14-6F873921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FE964A-5B72-6D6B-78F1-C9F5CE67B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D74093D-C360-6C4C-9B44-FE0A71A60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本模組採用 </a:t>
            </a:r>
            <a:r>
              <a:rPr lang="en-US" altLang="zh-TW" dirty="0"/>
              <a:t>kernel-based </a:t>
            </a:r>
            <a:r>
              <a:rPr lang="zh-TW" altLang="en-US" dirty="0"/>
              <a:t>線性注意力近似，僅需一次 </a:t>
            </a:r>
            <a:r>
              <a:rPr lang="en-US" altLang="zh-TW" dirty="0"/>
              <a:t>OTA </a:t>
            </a:r>
            <a:r>
              <a:rPr lang="zh-TW" altLang="en-US" dirty="0"/>
              <a:t>聚合即可完成全域上下文建模，無需額外訊號交換，完全符合 </a:t>
            </a:r>
            <a:r>
              <a:rPr lang="en-US" altLang="zh-TW" dirty="0" err="1"/>
              <a:t>mURLLC</a:t>
            </a:r>
            <a:r>
              <a:rPr lang="en-US" altLang="zh-TW" dirty="0"/>
              <a:t> </a:t>
            </a:r>
            <a:r>
              <a:rPr lang="zh-TW" altLang="en-US" dirty="0"/>
              <a:t>的延遲與同步要求。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2026E9-409A-FA09-1939-9C4546830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23417-8ABB-492A-91FA-085AF593C48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6402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7219B-EBB1-3C53-6C64-B6ABE3B9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C049925-4535-600C-DCB7-EE9219851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AA7FDA0-9504-7F17-FC06-527FBE42C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本模組採用 </a:t>
            </a:r>
            <a:r>
              <a:rPr lang="en-US" altLang="zh-TW" dirty="0"/>
              <a:t>kernel-based </a:t>
            </a:r>
            <a:r>
              <a:rPr lang="zh-TW" altLang="en-US" dirty="0"/>
              <a:t>線性注意力近似，僅需一次 </a:t>
            </a:r>
            <a:r>
              <a:rPr lang="en-US" altLang="zh-TW" dirty="0"/>
              <a:t>OTA </a:t>
            </a:r>
            <a:r>
              <a:rPr lang="zh-TW" altLang="en-US" dirty="0"/>
              <a:t>聚合即可完成全域上下文建模，無需額外訊號交換，完全符合 </a:t>
            </a:r>
            <a:r>
              <a:rPr lang="en-US" altLang="zh-TW" dirty="0" err="1"/>
              <a:t>mURLLC</a:t>
            </a:r>
            <a:r>
              <a:rPr lang="en-US" altLang="zh-TW" dirty="0"/>
              <a:t> </a:t>
            </a:r>
            <a:r>
              <a:rPr lang="zh-TW" altLang="en-US" dirty="0"/>
              <a:t>的延遲與同步要求。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0E7A39-EF51-EA55-B4E9-66188399A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23417-8ABB-492A-91FA-085AF593C48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593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20D8A-BA61-F19B-7937-8A154922D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FAB103-D5DF-F41D-9FD3-12FC4ECF7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6243C06-A266-EC3A-9C80-252830070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本模組採用 </a:t>
            </a:r>
            <a:r>
              <a:rPr lang="en-US" altLang="zh-TW" dirty="0"/>
              <a:t>kernel-based </a:t>
            </a:r>
            <a:r>
              <a:rPr lang="zh-TW" altLang="en-US" dirty="0"/>
              <a:t>線性注意力近似，僅需一次 </a:t>
            </a:r>
            <a:r>
              <a:rPr lang="en-US" altLang="zh-TW" dirty="0"/>
              <a:t>OTA </a:t>
            </a:r>
            <a:r>
              <a:rPr lang="zh-TW" altLang="en-US" dirty="0"/>
              <a:t>聚合即可完成全域上下文建模，無需額外訊號交換，完全符合 </a:t>
            </a:r>
            <a:r>
              <a:rPr lang="en-US" altLang="zh-TW" dirty="0" err="1"/>
              <a:t>mURLLC</a:t>
            </a:r>
            <a:r>
              <a:rPr lang="en-US" altLang="zh-TW" dirty="0"/>
              <a:t> </a:t>
            </a:r>
            <a:r>
              <a:rPr lang="zh-TW" altLang="en-US" dirty="0"/>
              <a:t>的延遲與同步要求。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99E3F1-92D4-DA12-F18A-61A8F0D17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23417-8ABB-492A-91FA-085AF593C48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9462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48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23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04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6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04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65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6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2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26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5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5EF9D-446A-4BA9-9A8F-8795C824CFA3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3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標題 2">
            <a:extLst>
              <a:ext uri="{FF2B5EF4-FFF2-40B4-BE49-F238E27FC236}">
                <a16:creationId xmlns:a16="http://schemas.microsoft.com/office/drawing/2014/main" id="{451C5854-6737-AD18-DEE8-76261F18A923}"/>
              </a:ext>
            </a:extLst>
          </p:cNvPr>
          <p:cNvSpPr txBox="1">
            <a:spLocks/>
          </p:cNvSpPr>
          <p:nvPr/>
        </p:nvSpPr>
        <p:spPr>
          <a:xfrm>
            <a:off x="2882819" y="3430151"/>
            <a:ext cx="6160303" cy="5182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3200">
                <a:latin typeface="Microsoft JhengHei"/>
                <a:ea typeface="Microsoft JhengHei"/>
              </a:rPr>
              <a:t>陳世汶, 林庭緯</a:t>
            </a:r>
            <a:endParaRPr lang="zh-TW" altLang="en-US" sz="3200" dirty="0">
              <a:latin typeface="Microsoft JhengHei"/>
              <a:ea typeface="Microsoft JhengHei"/>
            </a:endParaRPr>
          </a:p>
          <a:p>
            <a:endParaRPr lang="zh-TW" altLang="en-US" sz="3200" dirty="0">
              <a:latin typeface="Microsoft JhengHei"/>
              <a:ea typeface="Microsoft JhengHei"/>
              <a:cs typeface="+mn-lt"/>
            </a:endParaRPr>
          </a:p>
          <a:p>
            <a:r>
              <a:rPr lang="zh-TW" altLang="en-US" sz="2800" i="1">
                <a:latin typeface="Microsoft JhengHei"/>
                <a:ea typeface="Microsoft JhengHei"/>
              </a:rPr>
              <a:t>資訊工程學系</a:t>
            </a:r>
            <a:r>
              <a:rPr lang="en-US" altLang="zh-TW" sz="2800" i="1" dirty="0">
                <a:latin typeface="Microsoft JhengHei"/>
                <a:ea typeface="+mn-lt"/>
              </a:rPr>
              <a:t>-</a:t>
            </a:r>
            <a:r>
              <a:rPr lang="zh-TW" altLang="en-US" sz="2800" i="1">
                <a:latin typeface="Microsoft JhengHei"/>
                <a:ea typeface="Microsoft JhengHei"/>
              </a:rPr>
              <a:t>靜宜大學</a:t>
            </a:r>
            <a:endParaRPr lang="zh-TW" sz="2800">
              <a:latin typeface="Microsoft JhengHei"/>
              <a:ea typeface="Microsoft JhengHei"/>
            </a:endParaRPr>
          </a:p>
          <a:p>
            <a:endParaRPr lang="zh-TW" altLang="en-US" sz="3200" dirty="0">
              <a:latin typeface="Microsoft JhengHei"/>
              <a:ea typeface="Microsoft JhengHei"/>
            </a:endParaRPr>
          </a:p>
          <a:p>
            <a:endParaRPr lang="zh-TW" altLang="en-US" sz="3200" dirty="0">
              <a:latin typeface="Microsoft JhengHei"/>
              <a:ea typeface="Microsoft JhengHei"/>
            </a:endParaRPr>
          </a:p>
          <a:p>
            <a:r>
              <a:rPr lang="zh-TW" altLang="en-US" sz="3200">
                <a:latin typeface="Microsoft JhengHei"/>
                <a:ea typeface="Microsoft JhengHei"/>
              </a:rPr>
              <a:t>指導老師:劉建興</a:t>
            </a:r>
            <a:endParaRPr lang="zh-TW" altLang="en-US" sz="3200" dirty="0">
              <a:latin typeface="Microsoft JhengHei"/>
              <a:ea typeface="Microsoft JhengHei"/>
            </a:endParaRPr>
          </a:p>
          <a:p>
            <a:endParaRPr lang="zh-TW" altLang="en-US" sz="3200" dirty="0">
              <a:latin typeface="Microsoft JhengHei"/>
              <a:ea typeface="Microsoft JhengHei"/>
            </a:endParaRPr>
          </a:p>
          <a:p>
            <a:endParaRPr lang="zh-TW" altLang="en-US" dirty="0">
              <a:ea typeface="新細明體"/>
            </a:endParaRPr>
          </a:p>
        </p:txBody>
      </p:sp>
      <p:pic>
        <p:nvPicPr>
          <p:cNvPr id="7" name="圖片 6" descr="一張含有 文字, 象徵物, 標誌, 商標 的圖片&#10;&#10;AI 產生的內容可能不正確。">
            <a:extLst>
              <a:ext uri="{FF2B5EF4-FFF2-40B4-BE49-F238E27FC236}">
                <a16:creationId xmlns:a16="http://schemas.microsoft.com/office/drawing/2014/main" id="{C5834BD3-38FC-E751-0271-BCA738E02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835" y="3427402"/>
            <a:ext cx="2576764" cy="262689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6CD7B1B-8D14-A4C9-721A-775D25A83C56}"/>
              </a:ext>
            </a:extLst>
          </p:cNvPr>
          <p:cNvSpPr/>
          <p:nvPr/>
        </p:nvSpPr>
        <p:spPr>
          <a:xfrm>
            <a:off x="-1886" y="1"/>
            <a:ext cx="12202101" cy="3047999"/>
          </a:xfrm>
          <a:prstGeom prst="rect">
            <a:avLst/>
          </a:prstGeom>
          <a:solidFill>
            <a:srgbClr val="006D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C6D04C2-4C47-2FF7-EF9A-9C931ABB063B}"/>
              </a:ext>
            </a:extLst>
          </p:cNvPr>
          <p:cNvSpPr txBox="1"/>
          <p:nvPr/>
        </p:nvSpPr>
        <p:spPr>
          <a:xfrm>
            <a:off x="861392" y="414130"/>
            <a:ext cx="10358781" cy="30162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7100" b="1">
                <a:solidFill>
                  <a:srgbClr val="FFFFFF"/>
                </a:solidFill>
                <a:latin typeface="PMingLiU"/>
                <a:ea typeface="PMingLiU"/>
              </a:rPr>
              <a:t>融合</a:t>
            </a:r>
            <a:r>
              <a:rPr lang="en-US" altLang="zh-TW" sz="7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GNN</a:t>
            </a:r>
            <a:r>
              <a:rPr lang="zh-TW" altLang="en-US" sz="7100" b="1">
                <a:solidFill>
                  <a:srgbClr val="FFFFFF"/>
                </a:solidFill>
                <a:latin typeface="PMingLiU"/>
                <a:ea typeface="PMingLiU"/>
              </a:rPr>
              <a:t>與</a:t>
            </a:r>
            <a:r>
              <a:rPr lang="zh-TW" sz="7100" b="1">
                <a:solidFill>
                  <a:srgbClr val="FFFFFF"/>
                </a:solidFill>
                <a:latin typeface="Calibri"/>
                <a:cs typeface="Calibri"/>
              </a:rPr>
              <a:t>Ta</a:t>
            </a:r>
            <a:r>
              <a:rPr lang="en-US" altLang="zh-TW" sz="7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</a:t>
            </a:r>
            <a:r>
              <a:rPr lang="zh-TW" sz="7100" b="1">
                <a:solidFill>
                  <a:srgbClr val="FFFFFF"/>
                </a:solidFill>
                <a:latin typeface="Calibri"/>
                <a:cs typeface="Calibri"/>
              </a:rPr>
              <a:t>nsformer</a:t>
            </a:r>
            <a:r>
              <a:rPr lang="zh-TW" altLang="en-US" sz="7100" b="1">
                <a:solidFill>
                  <a:srgbClr val="FFFFFF"/>
                </a:solidFill>
                <a:latin typeface="PMingLiU"/>
                <a:ea typeface="PMingLiU"/>
              </a:rPr>
              <a:t>技術的智能網路優化</a:t>
            </a:r>
            <a:endParaRPr lang="zh-TW" altLang="en-US"/>
          </a:p>
          <a:p>
            <a:pPr algn="ctr"/>
            <a:endParaRPr lang="zh-TW" sz="4800" b="1" dirty="0">
              <a:solidFill>
                <a:srgbClr val="FFFFFF"/>
              </a:solidFill>
              <a:ea typeface="新細明體"/>
            </a:endParaRPr>
          </a:p>
        </p:txBody>
      </p:sp>
      <p:pic>
        <p:nvPicPr>
          <p:cNvPr id="4" name="圖片 3" descr="一張含有 圖形, 圓形, 美工圖案, 平面設計 的圖片&#10;&#10;AI 產生的內容可能不正確。">
            <a:extLst>
              <a:ext uri="{FF2B5EF4-FFF2-40B4-BE49-F238E27FC236}">
                <a16:creationId xmlns:a16="http://schemas.microsoft.com/office/drawing/2014/main" id="{709BE22C-02A5-1E02-FC66-EE45572249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38" t="18830" r="16085" b="18866"/>
          <a:stretch>
            <a:fillRect/>
          </a:stretch>
        </p:blipFill>
        <p:spPr>
          <a:xfrm>
            <a:off x="2835" y="3860417"/>
            <a:ext cx="2869093" cy="176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C59F7-FF10-52B3-7584-4211A04F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B02EC00-2AEA-75D6-2814-EC36B5336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FB8B6B5-1F47-346A-6F70-3CDB23F5E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30" y="205877"/>
            <a:ext cx="10515600" cy="1325563"/>
          </a:xfrm>
        </p:spPr>
        <p:txBody>
          <a:bodyPr/>
          <a:lstStyle/>
          <a:p>
            <a:r>
              <a:rPr lang="zh-TW" altLang="en-US" b="1" dirty="0">
                <a:solidFill>
                  <a:srgbClr val="006DBB"/>
                </a:solidFill>
                <a:latin typeface="Microsoft JhengHei"/>
                <a:ea typeface="Microsoft JhengHei"/>
                <a:cs typeface="+mj-lt"/>
              </a:rPr>
              <a:t>目錄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06F90A0-1FDC-73C3-7EE5-5896B8E2F77D}"/>
              </a:ext>
            </a:extLst>
          </p:cNvPr>
          <p:cNvSpPr txBox="1"/>
          <p:nvPr/>
        </p:nvSpPr>
        <p:spPr>
          <a:xfrm>
            <a:off x="374930" y="1308984"/>
            <a:ext cx="6184340" cy="44678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b="1">
                <a:ea typeface="+mn-lt"/>
                <a:cs typeface="+mn-lt"/>
              </a:rPr>
              <a:t>背景</a:t>
            </a:r>
            <a:endParaRPr lang="zh-TW" altLang="en-US" sz="2400" b="1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b="1">
                <a:ea typeface="+mn-lt"/>
                <a:cs typeface="+mn-lt"/>
              </a:rPr>
              <a:t>𝐾 鏈路的</a:t>
            </a:r>
            <a:r>
              <a:rPr lang="en-US" altLang="zh-TW" sz="2400" b="1" dirty="0">
                <a:ea typeface="+mn-lt"/>
                <a:cs typeface="+mn-lt"/>
              </a:rPr>
              <a:t> </a:t>
            </a:r>
            <a:r>
              <a:rPr lang="en-US" altLang="zh-TW" sz="2400" b="1" dirty="0" err="1">
                <a:ea typeface="+mn-lt"/>
                <a:cs typeface="+mn-lt"/>
              </a:rPr>
              <a:t>mURLLC</a:t>
            </a:r>
            <a:r>
              <a:rPr lang="en-US" altLang="zh-TW" sz="2400" b="1" dirty="0">
                <a:ea typeface="+mn-lt"/>
                <a:cs typeface="+mn-lt"/>
              </a:rPr>
              <a:t> </a:t>
            </a:r>
            <a:r>
              <a:rPr lang="zh-TW" altLang="en-US" sz="2400" b="1">
                <a:ea typeface="+mn-lt"/>
                <a:cs typeface="+mn-lt"/>
              </a:rPr>
              <a:t>網路圖形</a:t>
            </a:r>
            <a:endParaRPr lang="en-US" altLang="zh-TW" sz="2400" b="1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400" b="1" dirty="0">
                <a:ea typeface="+mn-lt"/>
                <a:cs typeface="+mn-lt"/>
              </a:rPr>
              <a:t>SINR </a:t>
            </a:r>
            <a:r>
              <a:rPr lang="zh-TW" altLang="en-US" sz="2400" b="1">
                <a:ea typeface="+mn-lt"/>
                <a:cs typeface="+mn-lt"/>
              </a:rPr>
              <a:t>定義</a:t>
            </a:r>
            <a:endParaRPr lang="en-US" altLang="zh-TW" sz="2400" b="1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400" b="1" dirty="0">
                <a:ea typeface="+mj-lt"/>
                <a:cs typeface="+mj-lt"/>
              </a:rPr>
              <a:t>BLER </a:t>
            </a:r>
            <a:r>
              <a:rPr lang="zh-TW" altLang="en-US" sz="2400" b="1" dirty="0">
                <a:ea typeface="+mj-lt"/>
                <a:cs typeface="+mj-lt"/>
              </a:rPr>
              <a:t>公式</a:t>
            </a:r>
            <a:endParaRPr lang="en-US" altLang="zh-TW" sz="2400" b="1" dirty="0">
              <a:ea typeface="+mj-lt"/>
              <a:cs typeface="+mj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400" b="1" dirty="0">
                <a:ea typeface="+mj-lt"/>
                <a:cs typeface="+mj-lt"/>
              </a:rPr>
              <a:t>Optimization Problem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zh-TW" altLang="en-US" sz="2400" b="1" dirty="0">
                <a:ea typeface="+mj-lt"/>
                <a:cs typeface="+mj-lt"/>
              </a:rPr>
              <a:t>架構形成</a:t>
            </a:r>
            <a:endParaRPr lang="en-US" altLang="zh-TW" sz="2400" b="1" dirty="0">
              <a:ea typeface="+mj-lt"/>
              <a:cs typeface="+mj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b="1" dirty="0">
                <a:ea typeface="+mj-lt"/>
                <a:cs typeface="+mj-lt"/>
              </a:rPr>
              <a:t>現有的 </a:t>
            </a:r>
            <a:r>
              <a:rPr lang="en-US" altLang="zh-TW" sz="2400" b="1" dirty="0">
                <a:ea typeface="+mj-lt"/>
                <a:cs typeface="+mj-lt"/>
              </a:rPr>
              <a:t>GNN</a:t>
            </a:r>
            <a:r>
              <a:rPr lang="zh-TW" altLang="en-US" sz="2400" b="1" dirty="0">
                <a:ea typeface="+mj-lt"/>
                <a:cs typeface="+mj-lt"/>
              </a:rPr>
              <a:t> 架構</a:t>
            </a:r>
            <a:endParaRPr lang="en-US" altLang="zh-TW" sz="2400" b="1" dirty="0">
              <a:ea typeface="+mj-lt"/>
              <a:cs typeface="+mj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lphaUcPeriod"/>
            </a:pPr>
            <a:r>
              <a:rPr lang="en-US" altLang="zh-TW" sz="2400" b="1" dirty="0">
                <a:ea typeface="+mj-lt"/>
                <a:cs typeface="+mj-lt"/>
              </a:rPr>
              <a:t>G4U</a:t>
            </a:r>
            <a:r>
              <a:rPr lang="zh-TW" altLang="en-US" sz="2400" b="1" dirty="0">
                <a:ea typeface="+mj-lt"/>
                <a:cs typeface="+mj-lt"/>
              </a:rPr>
              <a:t> </a:t>
            </a:r>
            <a:r>
              <a:rPr lang="en-US" altLang="zh-TW" sz="2400" b="1" dirty="0">
                <a:ea typeface="+mj-lt"/>
                <a:cs typeface="+mj-lt"/>
              </a:rPr>
              <a:t>/</a:t>
            </a:r>
            <a:r>
              <a:rPr lang="zh-TW" altLang="en-US" sz="2400" b="1" dirty="0">
                <a:ea typeface="+mj-lt"/>
                <a:cs typeface="+mj-lt"/>
              </a:rPr>
              <a:t> </a:t>
            </a:r>
            <a:r>
              <a:rPr lang="en-US" altLang="zh-TW" sz="2400" b="1" dirty="0">
                <a:ea typeface="+mj-lt"/>
                <a:cs typeface="+mj-lt"/>
              </a:rPr>
              <a:t>PG4U</a:t>
            </a:r>
            <a:r>
              <a:rPr lang="zh-TW" altLang="en-US" sz="2400" b="1" dirty="0">
                <a:ea typeface="+mj-lt"/>
                <a:cs typeface="+mj-lt"/>
              </a:rPr>
              <a:t>目前解決方案的局限性？</a:t>
            </a:r>
            <a:endParaRPr lang="en-US" altLang="zh-TW" sz="2400" b="1" dirty="0">
              <a:ea typeface="+mj-lt"/>
              <a:cs typeface="+mj-lt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BC5ACB1-40AC-3FD6-910F-D90352978DDE}"/>
              </a:ext>
            </a:extLst>
          </p:cNvPr>
          <p:cNvSpPr txBox="1"/>
          <p:nvPr/>
        </p:nvSpPr>
        <p:spPr>
          <a:xfrm>
            <a:off x="6096000" y="1308984"/>
            <a:ext cx="5986268" cy="50250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zh-TW" sz="2400" b="1" dirty="0">
                <a:ea typeface="+mj-lt"/>
                <a:cs typeface="+mj-lt"/>
              </a:rPr>
              <a:t>G4U</a:t>
            </a:r>
            <a:r>
              <a:rPr lang="zh-TW" altLang="en-US" sz="2400" b="1" dirty="0">
                <a:ea typeface="+mj-lt"/>
                <a:cs typeface="+mj-lt"/>
              </a:rPr>
              <a:t> </a:t>
            </a:r>
            <a:r>
              <a:rPr lang="en-US" altLang="zh-TW" sz="2400" b="1" dirty="0">
                <a:ea typeface="+mj-lt"/>
                <a:cs typeface="+mj-lt"/>
              </a:rPr>
              <a:t>with Transformer </a:t>
            </a:r>
            <a:r>
              <a:rPr lang="zh-TW" altLang="en-US" sz="2400" b="1" dirty="0">
                <a:ea typeface="+mj-lt"/>
                <a:cs typeface="+mj-lt"/>
              </a:rPr>
              <a:t>架構</a:t>
            </a:r>
            <a:endParaRPr lang="en-US" altLang="zh-TW" sz="2400" b="1" dirty="0">
              <a:ea typeface="+mj-lt"/>
              <a:cs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zh-TW" sz="2400" b="1" dirty="0">
                <a:ea typeface="+mj-lt"/>
                <a:cs typeface="+mj-lt"/>
              </a:rPr>
              <a:t>Token </a:t>
            </a:r>
            <a:r>
              <a:rPr lang="zh-TW" altLang="en-US" sz="2400" b="1" dirty="0">
                <a:ea typeface="+mj-lt"/>
                <a:cs typeface="+mj-lt"/>
              </a:rPr>
              <a:t>建構與 </a:t>
            </a:r>
            <a:r>
              <a:rPr lang="en-US" altLang="zh-TW" sz="2400" b="1" dirty="0">
                <a:ea typeface="+mj-lt"/>
                <a:cs typeface="+mj-lt"/>
              </a:rPr>
              <a:t>Q</a:t>
            </a:r>
            <a:r>
              <a:rPr lang="zh-TW" altLang="en-US" sz="2400" b="1" dirty="0">
                <a:ea typeface="+mj-lt"/>
                <a:cs typeface="+mj-lt"/>
              </a:rPr>
              <a:t> </a:t>
            </a:r>
            <a:r>
              <a:rPr lang="en-US" altLang="zh-TW" sz="2400" b="1" dirty="0">
                <a:ea typeface="+mj-lt"/>
                <a:cs typeface="+mj-lt"/>
              </a:rPr>
              <a:t>/</a:t>
            </a:r>
            <a:r>
              <a:rPr lang="zh-TW" altLang="en-US" sz="2400" b="1" dirty="0">
                <a:ea typeface="+mj-lt"/>
                <a:cs typeface="+mj-lt"/>
              </a:rPr>
              <a:t> </a:t>
            </a:r>
            <a:r>
              <a:rPr lang="en-US" altLang="zh-TW" sz="2400" b="1" dirty="0">
                <a:ea typeface="+mj-lt"/>
                <a:cs typeface="+mj-lt"/>
              </a:rPr>
              <a:t>K</a:t>
            </a:r>
            <a:r>
              <a:rPr lang="zh-TW" altLang="en-US" sz="2400" b="1" dirty="0">
                <a:ea typeface="+mj-lt"/>
                <a:cs typeface="+mj-lt"/>
              </a:rPr>
              <a:t> </a:t>
            </a:r>
            <a:r>
              <a:rPr lang="en-US" altLang="zh-TW" sz="2400" b="1" dirty="0">
                <a:ea typeface="+mj-lt"/>
                <a:cs typeface="+mj-lt"/>
              </a:rPr>
              <a:t>/</a:t>
            </a:r>
            <a:r>
              <a:rPr lang="zh-TW" altLang="en-US" sz="2400" b="1" dirty="0">
                <a:ea typeface="+mj-lt"/>
                <a:cs typeface="+mj-lt"/>
              </a:rPr>
              <a:t> </a:t>
            </a:r>
            <a:r>
              <a:rPr lang="en-US" altLang="zh-TW" sz="2400" b="1" dirty="0">
                <a:ea typeface="+mj-lt"/>
                <a:cs typeface="+mj-lt"/>
              </a:rPr>
              <a:t>V </a:t>
            </a:r>
            <a:r>
              <a:rPr lang="zh-TW" altLang="en-US" sz="2400" b="1" dirty="0">
                <a:ea typeface="+mj-lt"/>
                <a:cs typeface="+mj-lt"/>
              </a:rPr>
              <a:t>投影</a:t>
            </a:r>
            <a:endParaRPr lang="en-US" altLang="zh-TW" sz="2400" b="1" dirty="0">
              <a:ea typeface="+mj-lt"/>
              <a:cs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zh-TW" sz="2400" b="1" dirty="0">
                <a:ea typeface="+mn-lt"/>
                <a:cs typeface="+mn-lt"/>
              </a:rPr>
              <a:t>OTA </a:t>
            </a:r>
            <a:r>
              <a:rPr lang="zh-TW" altLang="en-US" sz="2400" b="1" dirty="0">
                <a:ea typeface="+mj-lt"/>
                <a:cs typeface="+mj-lt"/>
              </a:rPr>
              <a:t>聚合全域統計</a:t>
            </a:r>
            <a:endParaRPr lang="en-US" altLang="zh-TW" sz="2400" b="1" dirty="0">
              <a:ea typeface="+mj-lt"/>
              <a:cs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zh-TW" sz="2400" b="1" dirty="0">
                <a:ea typeface="+mj-lt"/>
                <a:cs typeface="+mj-lt"/>
              </a:rPr>
              <a:t>Transformer </a:t>
            </a:r>
            <a:r>
              <a:rPr lang="zh-TW" altLang="en-US" sz="2400" b="1" dirty="0">
                <a:ea typeface="+mj-lt"/>
                <a:cs typeface="+mj-lt"/>
              </a:rPr>
              <a:t>精煉堪入</a:t>
            </a:r>
            <a:endParaRPr lang="en-US" altLang="zh-TW" sz="2400" b="1" dirty="0">
              <a:ea typeface="+mj-lt"/>
              <a:cs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zh-TW" sz="2400" b="1" dirty="0">
                <a:ea typeface="+mj-lt"/>
                <a:cs typeface="+mj-lt"/>
              </a:rPr>
              <a:t>QoS Outage Probability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8"/>
            </a:pPr>
            <a:r>
              <a:rPr lang="zh-TW" altLang="en-US" sz="2400" b="1" dirty="0">
                <a:ea typeface="+mj-lt"/>
                <a:cs typeface="+mj-lt"/>
              </a:rPr>
              <a:t>實驗結果</a:t>
            </a:r>
            <a:endParaRPr lang="en-US" altLang="zh-TW" sz="2400" b="1" dirty="0">
              <a:ea typeface="+mj-lt"/>
              <a:cs typeface="+mj-lt"/>
            </a:endParaRPr>
          </a:p>
          <a:p>
            <a:pPr marL="457200" indent="-457200">
              <a:lnSpc>
                <a:spcPct val="150000"/>
              </a:lnSpc>
              <a:buAutoNum type="arabicPeriod" startAt="8"/>
            </a:pPr>
            <a:r>
              <a:rPr lang="zh-TW" altLang="en-US" sz="2400" b="1">
                <a:ea typeface="+mj-lt"/>
                <a:cs typeface="+mj-lt"/>
              </a:rPr>
              <a:t>結論</a:t>
            </a:r>
            <a:endParaRPr lang="zh-TW" altLang="en-US" sz="2400" b="1" dirty="0">
              <a:ea typeface="+mj-lt"/>
              <a:cs typeface="+mj-lt"/>
            </a:endParaRPr>
          </a:p>
          <a:p>
            <a:pPr>
              <a:lnSpc>
                <a:spcPct val="150000"/>
              </a:lnSpc>
            </a:pPr>
            <a:endParaRPr lang="en-US" altLang="zh-TW" sz="2400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TW" sz="24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6002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3A485-4BD4-4719-AFDC-A0259B47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436A100E-3E5F-638E-4A58-663BE543E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AEC5210-850C-6EB3-E386-93EE8AF53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>
                <a:solidFill>
                  <a:srgbClr val="006DBB"/>
                </a:solidFill>
                <a:latin typeface="Microsoft JhengHei"/>
                <a:ea typeface="Microsoft JhengHei"/>
                <a:cs typeface="+mj-lt"/>
              </a:rPr>
              <a:t>背景</a:t>
            </a:r>
            <a:endParaRPr lang="zh-TW" altLang="en-US" dirty="0" err="1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9145F22-9793-DF2B-D3DE-795D0C990DB2}"/>
              </a:ext>
            </a:extLst>
          </p:cNvPr>
          <p:cNvSpPr txBox="1"/>
          <p:nvPr/>
        </p:nvSpPr>
        <p:spPr>
          <a:xfrm>
            <a:off x="980389" y="1512666"/>
            <a:ext cx="9708553" cy="12964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/>
              <a:buChar char="Ø"/>
            </a:pPr>
            <a:r>
              <a:rPr lang="zh-TW" altLang="en-US" dirty="0">
                <a:ea typeface="+mn-lt"/>
                <a:cs typeface="+mn-lt"/>
              </a:rPr>
              <a:t>第六代行動通訊（</a:t>
            </a:r>
            <a:r>
              <a:rPr lang="en-US" altLang="zh-TW" dirty="0">
                <a:ea typeface="+mn-lt"/>
                <a:cs typeface="+mn-lt"/>
              </a:rPr>
              <a:t>6G</a:t>
            </a:r>
            <a:r>
              <a:rPr lang="zh-TW" altLang="en-US" dirty="0">
                <a:ea typeface="+mn-lt"/>
                <a:cs typeface="+mn-lt"/>
              </a:rPr>
              <a:t>）加劇了對 </a:t>
            </a:r>
            <a:r>
              <a:rPr lang="zh-TW" altLang="en-US" b="1" dirty="0">
                <a:solidFill>
                  <a:srgbClr val="FF0000"/>
                </a:solidFill>
                <a:ea typeface="+mn-lt"/>
                <a:cs typeface="+mn-lt"/>
              </a:rPr>
              <a:t>超高可靠性</a:t>
            </a:r>
            <a:r>
              <a:rPr lang="zh-TW" altLang="en-US" dirty="0">
                <a:ea typeface="+mn-lt"/>
                <a:cs typeface="+mn-lt"/>
              </a:rPr>
              <a:t>、</a:t>
            </a:r>
            <a:r>
              <a:rPr lang="zh-TW" altLang="en-US" b="1" dirty="0">
                <a:solidFill>
                  <a:srgbClr val="FF0000"/>
                </a:solidFill>
                <a:ea typeface="+mn-lt"/>
                <a:cs typeface="+mn-lt"/>
              </a:rPr>
              <a:t>毫秒級延遲</a:t>
            </a:r>
            <a:r>
              <a:rPr lang="zh-TW" altLang="en-US" dirty="0">
                <a:ea typeface="+mn-lt"/>
                <a:cs typeface="+mn-lt"/>
              </a:rPr>
              <a:t> 與 </a:t>
            </a:r>
            <a:r>
              <a:rPr lang="zh-TW" altLang="en-US" b="1" dirty="0">
                <a:solidFill>
                  <a:srgbClr val="FF0000"/>
                </a:solidFill>
                <a:ea typeface="+mn-lt"/>
                <a:cs typeface="+mn-lt"/>
              </a:rPr>
              <a:t>可擴展效率</a:t>
            </a:r>
            <a:r>
              <a:rPr lang="zh-TW" altLang="en-US" dirty="0">
                <a:ea typeface="+mn-lt"/>
                <a:cs typeface="+mn-lt"/>
              </a:rPr>
              <a:t> 的需求。 在 </a:t>
            </a:r>
            <a:r>
              <a:rPr lang="zh-TW" altLang="en-US" b="1" dirty="0">
                <a:solidFill>
                  <a:srgbClr val="FF0000"/>
                </a:solidFill>
                <a:ea typeface="+mn-lt"/>
                <a:cs typeface="+mn-lt"/>
              </a:rPr>
              <a:t>大規模超高可靠低延遲通訊 </a:t>
            </a:r>
            <a:r>
              <a:rPr lang="en-US" altLang="zh-TW" b="1" dirty="0">
                <a:solidFill>
                  <a:srgbClr val="FF0000"/>
                </a:solidFill>
                <a:ea typeface="+mn-lt"/>
                <a:cs typeface="+mn-lt"/>
              </a:rPr>
              <a:t>(</a:t>
            </a:r>
            <a:r>
              <a:rPr lang="en-US" altLang="zh-TW" b="1" dirty="0" err="1">
                <a:solidFill>
                  <a:srgbClr val="FF0000"/>
                </a:solidFill>
                <a:ea typeface="+mn-lt"/>
                <a:cs typeface="+mn-lt"/>
              </a:rPr>
              <a:t>mURLLC</a:t>
            </a:r>
            <a:r>
              <a:rPr lang="en-US" altLang="zh-TW" b="1" dirty="0">
                <a:solidFill>
                  <a:srgbClr val="FF0000"/>
                </a:solidFill>
                <a:ea typeface="+mn-lt"/>
                <a:cs typeface="+mn-lt"/>
              </a:rPr>
              <a:t>)</a:t>
            </a:r>
            <a:r>
              <a:rPr lang="en-US" altLang="zh-TW" dirty="0">
                <a:ea typeface="+mn-lt"/>
                <a:cs typeface="+mn-lt"/>
              </a:rPr>
              <a:t> </a:t>
            </a:r>
            <a:r>
              <a:rPr lang="zh-TW" altLang="en-US" dirty="0">
                <a:ea typeface="+mn-lt"/>
                <a:cs typeface="+mn-lt"/>
              </a:rPr>
              <a:t>場景中，分散式波束成形與功率控制尤為關鍵，但其解碼錯誤率同時依賴波束向量、區塊長度與通道狀態資訊 </a:t>
            </a:r>
            <a:r>
              <a:rPr lang="en-US" altLang="zh-TW" dirty="0">
                <a:ea typeface="+mn-lt"/>
                <a:cs typeface="+mn-lt"/>
              </a:rPr>
              <a:t>(CSI)</a:t>
            </a:r>
            <a:r>
              <a:rPr lang="zh-TW" altLang="en-US" dirty="0">
                <a:ea typeface="+mn-lt"/>
                <a:cs typeface="+mn-lt"/>
              </a:rPr>
              <a:t>，使得問題高度非凸。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73EBB49-5295-8D43-A430-CC710F3CF2E9}"/>
              </a:ext>
            </a:extLst>
          </p:cNvPr>
          <p:cNvSpPr txBox="1"/>
          <p:nvPr/>
        </p:nvSpPr>
        <p:spPr>
          <a:xfrm>
            <a:off x="980388" y="4254192"/>
            <a:ext cx="4729948" cy="12964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/>
              <a:buChar char="Ø"/>
            </a:pPr>
            <a:r>
              <a:rPr lang="en-US" altLang="zh-TW" dirty="0">
                <a:ea typeface="+mn-lt"/>
                <a:cs typeface="+mn-lt"/>
              </a:rPr>
              <a:t>G4U </a:t>
            </a:r>
            <a:r>
              <a:rPr lang="zh-TW" altLang="en-US" dirty="0">
                <a:ea typeface="+mn-lt"/>
                <a:cs typeface="+mn-lt"/>
              </a:rPr>
              <a:t>與 </a:t>
            </a:r>
            <a:r>
              <a:rPr lang="en-US" altLang="zh-TW" dirty="0">
                <a:ea typeface="+mn-lt"/>
                <a:cs typeface="+mn-lt"/>
              </a:rPr>
              <a:t>PG4U</a:t>
            </a:r>
            <a:r>
              <a:rPr lang="zh-TW" altLang="en-US" dirty="0">
                <a:ea typeface="+mn-lt"/>
                <a:cs typeface="+mn-lt"/>
              </a:rPr>
              <a:t> 兩者仍受限於 </a:t>
            </a:r>
            <a:r>
              <a:rPr lang="zh-TW" altLang="en-US" b="1" dirty="0">
                <a:solidFill>
                  <a:srgbClr val="FF0000"/>
                </a:solidFill>
                <a:ea typeface="+mn-lt"/>
                <a:cs typeface="+mn-lt"/>
              </a:rPr>
              <a:t>局部訊息傳遞</a:t>
            </a:r>
            <a:r>
              <a:rPr lang="zh-TW" altLang="en-US" dirty="0">
                <a:ea typeface="+mn-lt"/>
                <a:cs typeface="+mn-lt"/>
              </a:rPr>
              <a:t>，無法捕捉長距依賴，導致在複雜干擾環境下協調性不足。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A94EC2-5253-76EF-7450-04905415C8A9}"/>
              </a:ext>
            </a:extLst>
          </p:cNvPr>
          <p:cNvSpPr txBox="1"/>
          <p:nvPr/>
        </p:nvSpPr>
        <p:spPr>
          <a:xfrm>
            <a:off x="980388" y="2988526"/>
            <a:ext cx="5205808" cy="880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/>
              <a:buChar char="Ø"/>
            </a:pPr>
            <a:r>
              <a:rPr lang="zh-TW" altLang="en-US" dirty="0">
                <a:ea typeface="+mn-lt"/>
                <a:cs typeface="+mn-lt"/>
              </a:rPr>
              <a:t>在 </a:t>
            </a:r>
            <a:r>
              <a:rPr lang="en-US" altLang="zh-TW" b="1" dirty="0" err="1">
                <a:solidFill>
                  <a:srgbClr val="FF0000"/>
                </a:solidFill>
                <a:ea typeface="+mn-lt"/>
                <a:cs typeface="+mn-lt"/>
              </a:rPr>
              <a:t>mURLLC</a:t>
            </a:r>
            <a:r>
              <a:rPr lang="zh-TW" altLang="en-US" dirty="0">
                <a:ea typeface="+mn-lt"/>
                <a:cs typeface="+mn-lt"/>
              </a:rPr>
              <a:t> 下網路規模增大，迭代求解器的複雜度急遽上升，無法滿足嚴格的 </a:t>
            </a:r>
            <a:r>
              <a:rPr lang="zh-TW" altLang="en-US" b="1" dirty="0">
                <a:solidFill>
                  <a:srgbClr val="FF0000"/>
                </a:solidFill>
                <a:ea typeface="+mn-lt"/>
                <a:cs typeface="+mn-lt"/>
              </a:rPr>
              <a:t>延遲需求</a:t>
            </a:r>
            <a:r>
              <a:rPr lang="zh-TW" altLang="en-US" dirty="0">
                <a:ea typeface="+mn-lt"/>
                <a:cs typeface="+mn-lt"/>
              </a:rPr>
              <a:t>。</a:t>
            </a:r>
          </a:p>
        </p:txBody>
      </p:sp>
      <p:pic>
        <p:nvPicPr>
          <p:cNvPr id="13" name="圖片 12" descr="一張含有 圓形, 螢幕擷取畫面, 圖表, 圖形 的圖片&#10;&#10;AI 產生的內容可能不正確。">
            <a:extLst>
              <a:ext uri="{FF2B5EF4-FFF2-40B4-BE49-F238E27FC236}">
                <a16:creationId xmlns:a16="http://schemas.microsoft.com/office/drawing/2014/main" id="{2B273CF1-5A07-6D1D-B15D-02E09FC617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65" y="2809111"/>
            <a:ext cx="6207669" cy="418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7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"/>
                            </p:stCondLst>
                            <p:childTnLst>
                              <p:par>
                                <p:cTn id="28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"/>
                            </p:stCondLst>
                            <p:childTnLst>
                              <p:par>
                                <p:cTn id="36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0" grpId="0" build="allAtOnce"/>
      <p:bldP spid="10" grpId="1" build="allAtOnce"/>
      <p:bldP spid="11" grpId="0"/>
      <p:bldP spid="11" grpId="1"/>
      <p:bldP spid="11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8DC7A-5134-4BB4-9165-845ED926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1EFC8F8-BA50-F298-7422-1BFEDBFC6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pic>
        <p:nvPicPr>
          <p:cNvPr id="5" name="圖片 4" descr="一張含有 文字, 圖表, 行 的圖片&#10;&#10;AI 產生的內容可能不正確。">
            <a:extLst>
              <a:ext uri="{FF2B5EF4-FFF2-40B4-BE49-F238E27FC236}">
                <a16:creationId xmlns:a16="http://schemas.microsoft.com/office/drawing/2014/main" id="{472BF8E3-60B2-6130-F6EA-D2144AB8B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041" y="1615005"/>
            <a:ext cx="8507811" cy="450379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DCA7429-D30D-15D1-556F-9AA255338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06337" cy="1325563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𝐾 鏈路的</a:t>
            </a:r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 </a:t>
            </a:r>
            <a:r>
              <a:rPr lang="en-US" altLang="zh-TW" dirty="0" err="1">
                <a:solidFill>
                  <a:srgbClr val="006DBB"/>
                </a:solidFill>
                <a:ea typeface="+mj-lt"/>
                <a:cs typeface="+mj-lt"/>
              </a:rPr>
              <a:t>mURLLC</a:t>
            </a:r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 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網路圖形</a:t>
            </a:r>
          </a:p>
        </p:txBody>
      </p:sp>
    </p:spTree>
    <p:extLst>
      <p:ext uri="{BB962C8B-B14F-4D97-AF65-F5344CB8AC3E}">
        <p14:creationId xmlns:p14="http://schemas.microsoft.com/office/powerpoint/2010/main" val="919180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A199B-53C8-ECBD-715D-6AFC0AFBA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CC9AB8-38E4-1032-D785-E2B94310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SINR 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定義</a:t>
            </a:r>
            <a:endParaRPr lang="zh-TW" dirty="0">
              <a:solidFill>
                <a:srgbClr val="006DBB"/>
              </a:solidFill>
              <a:ea typeface="+mj-lt"/>
              <a:cs typeface="+mj-l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2C28D42-1677-AEEC-831F-F4BCD1886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pic>
        <p:nvPicPr>
          <p:cNvPr id="8" name="圖片 7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DD70F9B4-127D-5FDE-BF2D-50E1B5FF3B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3" b="31162"/>
          <a:stretch>
            <a:fillRect/>
          </a:stretch>
        </p:blipFill>
        <p:spPr>
          <a:xfrm>
            <a:off x="843871" y="3681658"/>
            <a:ext cx="7783033" cy="16222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65F3718-DB55-2CE8-14EF-07B5CCB9B798}"/>
              </a:ext>
            </a:extLst>
          </p:cNvPr>
          <p:cNvSpPr>
            <a:spLocks/>
          </p:cNvSpPr>
          <p:nvPr/>
        </p:nvSpPr>
        <p:spPr>
          <a:xfrm>
            <a:off x="6167120" y="3957396"/>
            <a:ext cx="878840" cy="558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1770A68-533C-D87C-A7E9-EBBAF6732E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72056" y="2755108"/>
                <a:ext cx="3480864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TW"/>
                </a:defPPr>
                <a:lvl1pPr indent="0">
                  <a:lnSpc>
                    <a:spcPct val="100000"/>
                  </a:lnSpc>
                  <a:buFont typeface="Wingdings"/>
                  <a:buNone/>
                  <a:defRPr>
                    <a:ea typeface="+mn-lt"/>
                    <a:cs typeface="+mn-lt"/>
                  </a:defRPr>
                </a:lvl1pPr>
              </a:lstStyle>
              <a:p>
                <a:pPr algn="ctr"/>
                <a:r>
                  <a:rPr lang="zh-TW" altLang="en-US" dirty="0"/>
                  <a:t>在時間 </a:t>
                </a:r>
                <a14:m>
                  <m:oMath xmlns:m="http://schemas.openxmlformats.org/officeDocument/2006/math">
                    <m:r>
                      <a:rPr lang="zh-TW" altLang="en-US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TW" altLang="en-US" dirty="0"/>
                  <a:t>時，基站 </a:t>
                </a:r>
                <a14:m>
                  <m:oMath xmlns:m="http://schemas.openxmlformats.org/officeDocument/2006/math">
                    <m:r>
                      <a:rPr lang="zh-TW" altLang="en-US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TW" altLang="en-US" dirty="0"/>
                  <a:t>到使用者 </a:t>
                </a:r>
                <a14:m>
                  <m:oMath xmlns:m="http://schemas.openxmlformats.org/officeDocument/2006/math">
                    <m:r>
                      <a:rPr lang="zh-TW" altLang="en-US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TW" altLang="en-US" dirty="0"/>
                  <a:t>的 直接通道向量（</a:t>
                </a:r>
                <a:r>
                  <a:rPr lang="en-US" altLang="zh-TW" dirty="0"/>
                  <a:t>Direct Channel</a:t>
                </a:r>
                <a:r>
                  <a:rPr lang="zh-TW" altLang="en-US" dirty="0"/>
                  <a:t>）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1770A68-533C-D87C-A7E9-EBBAF673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056" y="2755108"/>
                <a:ext cx="3480864" cy="646331"/>
              </a:xfrm>
              <a:prstGeom prst="rect">
                <a:avLst/>
              </a:prstGeom>
              <a:blipFill>
                <a:blip r:embed="rId5"/>
                <a:stretch>
                  <a:fillRect l="-1576" t="-6604" r="-1751" b="-150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18C74FFC-080D-D72C-6A4A-994166F05D34}"/>
              </a:ext>
            </a:extLst>
          </p:cNvPr>
          <p:cNvSpPr txBox="1">
            <a:spLocks/>
          </p:cNvSpPr>
          <p:nvPr/>
        </p:nvSpPr>
        <p:spPr>
          <a:xfrm>
            <a:off x="7968597" y="5630582"/>
            <a:ext cx="29870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pPr algn="ctr"/>
            <a:r>
              <a:rPr lang="zh-TW" altLang="en-US" dirty="0"/>
              <a:t>加性白雜訊 </a:t>
            </a:r>
            <a:r>
              <a:rPr lang="en-US" altLang="zh-TW" dirty="0"/>
              <a:t>(AWGN) </a:t>
            </a:r>
            <a:r>
              <a:rPr lang="zh-TW" altLang="en-US" dirty="0"/>
              <a:t>的功率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41E00BF-D591-876A-4D1F-3DB17FEB79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2920" y="2756824"/>
                <a:ext cx="338074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TW"/>
                </a:defPPr>
                <a:lvl1pPr indent="0">
                  <a:lnSpc>
                    <a:spcPct val="100000"/>
                  </a:lnSpc>
                  <a:buFont typeface="Wingdings"/>
                  <a:buNone/>
                  <a:defRPr>
                    <a:ea typeface="+mn-lt"/>
                    <a:cs typeface="+mn-lt"/>
                  </a:defRPr>
                </a:lvl1pPr>
              </a:lstStyle>
              <a:p>
                <a:pPr algn="ctr"/>
                <a:r>
                  <a:rPr lang="zh-TW" altLang="en-US" dirty="0"/>
                  <a:t>基站</a:t>
                </a:r>
                <a14:m>
                  <m:oMath xmlns:m="http://schemas.openxmlformats.org/officeDocument/2006/math">
                    <m:r>
                      <a:rPr lang="zh-TW" altLang="en-US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TW" altLang="en-US" dirty="0"/>
                  <a:t>的波束成形 </a:t>
                </a:r>
                <a:r>
                  <a:rPr lang="en-US" altLang="zh-TW" dirty="0"/>
                  <a:t>(beamforming) </a:t>
                </a:r>
                <a:r>
                  <a:rPr lang="zh-TW" altLang="en-US" dirty="0"/>
                  <a:t>與功率控制向量</a:t>
                </a: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41E00BF-D591-876A-4D1F-3DB17FEB7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920" y="2756824"/>
                <a:ext cx="3380740" cy="646331"/>
              </a:xfrm>
              <a:prstGeom prst="rect">
                <a:avLst/>
              </a:prstGeom>
              <a:blipFill>
                <a:blip r:embed="rId6"/>
                <a:stretch>
                  <a:fillRect l="-1441" t="-5660" r="-2342" b="-132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73AD0AA-EADA-2D00-6AD0-76869CD7A9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90685" y="5650213"/>
                <a:ext cx="290322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TW"/>
                </a:defPPr>
                <a:lvl1pPr indent="0">
                  <a:lnSpc>
                    <a:spcPct val="100000"/>
                  </a:lnSpc>
                  <a:buFont typeface="Wingdings"/>
                  <a:buNone/>
                  <a:defRPr>
                    <a:ea typeface="+mn-lt"/>
                    <a:cs typeface="+mn-lt"/>
                  </a:defRPr>
                </a:lvl1pPr>
              </a:lstStyle>
              <a:p>
                <a:pPr algn="ctr"/>
                <a:r>
                  <a:rPr lang="zh-TW" altLang="en-US" b="1" dirty="0"/>
                  <a:t>來自其他基站 </a:t>
                </a:r>
                <a14:m>
                  <m:oMath xmlns:m="http://schemas.openxmlformats.org/officeDocument/2006/math">
                    <m:r>
                      <a:rPr lang="zh-TW" altLang="en-US" b="1" i="1">
                        <a:latin typeface="Cambria Math" panose="02040503050406030204" pitchFamily="18" charset="0"/>
                      </a:rPr>
                      <m:t>𝐣</m:t>
                    </m:r>
                  </m:oMath>
                </a14:m>
                <a:r>
                  <a:rPr lang="zh-TW" altLang="en-US" b="1" dirty="0"/>
                  <a:t>的 干擾功率</a:t>
                </a: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73AD0AA-EADA-2D00-6AD0-76869CD7A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685" y="5650213"/>
                <a:ext cx="2903220" cy="369332"/>
              </a:xfrm>
              <a:prstGeom prst="rect">
                <a:avLst/>
              </a:prstGeom>
              <a:blipFill>
                <a:blip r:embed="rId7"/>
                <a:stretch>
                  <a:fillRect l="-1471" t="-11667" r="-1261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D74C3BB6-D58B-07BC-D27E-9DDE604F4E4D}"/>
              </a:ext>
            </a:extLst>
          </p:cNvPr>
          <p:cNvSpPr txBox="1">
            <a:spLocks/>
          </p:cNvSpPr>
          <p:nvPr/>
        </p:nvSpPr>
        <p:spPr>
          <a:xfrm>
            <a:off x="9690784" y="4031189"/>
            <a:ext cx="15556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pPr algn="ctr"/>
            <a:r>
              <a:rPr lang="zh-TW" altLang="en-US" b="1" dirty="0"/>
              <a:t>期望訊號功率</a:t>
            </a:r>
          </a:p>
        </p:txBody>
      </p: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878F106E-B820-BE6F-8961-E03B243A73A8}"/>
              </a:ext>
            </a:extLst>
          </p:cNvPr>
          <p:cNvCxnSpPr>
            <a:cxnSpLocks/>
            <a:stCxn id="9" idx="0"/>
            <a:endCxn id="11" idx="2"/>
          </p:cNvCxnSpPr>
          <p:nvPr/>
        </p:nvCxnSpPr>
        <p:spPr>
          <a:xfrm rot="16200000" flipV="1">
            <a:off x="5581536" y="2932392"/>
            <a:ext cx="555957" cy="1494052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16F940E8-3D5B-A4C5-283D-2F3839D60536}"/>
              </a:ext>
            </a:extLst>
          </p:cNvPr>
          <p:cNvSpPr>
            <a:spLocks/>
          </p:cNvSpPr>
          <p:nvPr/>
        </p:nvSpPr>
        <p:spPr>
          <a:xfrm>
            <a:off x="7045960" y="3947236"/>
            <a:ext cx="695890" cy="558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0FD65AD8-684C-4744-E6BF-5ECE9A4F7FD7}"/>
              </a:ext>
            </a:extLst>
          </p:cNvPr>
          <p:cNvCxnSpPr>
            <a:cxnSpLocks/>
            <a:stCxn id="31" idx="0"/>
            <a:endCxn id="15" idx="2"/>
          </p:cNvCxnSpPr>
          <p:nvPr/>
        </p:nvCxnSpPr>
        <p:spPr>
          <a:xfrm rot="5400000" flipH="1" flipV="1">
            <a:off x="7696557" y="3100504"/>
            <a:ext cx="544081" cy="1149385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2C9FD5B6-C460-A564-5433-90E792EFAF59}"/>
              </a:ext>
            </a:extLst>
          </p:cNvPr>
          <p:cNvSpPr>
            <a:spLocks/>
          </p:cNvSpPr>
          <p:nvPr/>
        </p:nvSpPr>
        <p:spPr>
          <a:xfrm>
            <a:off x="8816340" y="4696303"/>
            <a:ext cx="481124" cy="465053"/>
          </a:xfrm>
          <a:prstGeom prst="rect">
            <a:avLst/>
          </a:prstGeom>
          <a:noFill/>
          <a:ln w="28575">
            <a:solidFill>
              <a:srgbClr val="00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7857C894-51F3-94BA-5F62-E22466667278}"/>
              </a:ext>
            </a:extLst>
          </p:cNvPr>
          <p:cNvCxnSpPr>
            <a:cxnSpLocks/>
            <a:stCxn id="35" idx="2"/>
            <a:endCxn id="13" idx="0"/>
          </p:cNvCxnSpPr>
          <p:nvPr/>
        </p:nvCxnSpPr>
        <p:spPr>
          <a:xfrm rot="16200000" flipH="1">
            <a:off x="9024896" y="5193361"/>
            <a:ext cx="469226" cy="405215"/>
          </a:xfrm>
          <a:prstGeom prst="bentConnector3">
            <a:avLst>
              <a:gd name="adj1" fmla="val 50000"/>
            </a:avLst>
          </a:prstGeom>
          <a:ln w="28575">
            <a:solidFill>
              <a:srgbClr val="0073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FBFC1B21-2DA4-C181-FABE-198731BA0B1C}"/>
              </a:ext>
            </a:extLst>
          </p:cNvPr>
          <p:cNvCxnSpPr>
            <a:cxnSpLocks/>
            <a:stCxn id="40" idx="3"/>
            <a:endCxn id="19" idx="1"/>
          </p:cNvCxnSpPr>
          <p:nvPr/>
        </p:nvCxnSpPr>
        <p:spPr>
          <a:xfrm>
            <a:off x="8054340" y="4214308"/>
            <a:ext cx="1636444" cy="1547"/>
          </a:xfrm>
          <a:prstGeom prst="bentConnector3">
            <a:avLst>
              <a:gd name="adj1" fmla="val 50000"/>
            </a:avLst>
          </a:prstGeom>
          <a:ln w="28575">
            <a:solidFill>
              <a:srgbClr val="0073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01BF39EF-D224-48B6-2A65-A38643B7D554}"/>
              </a:ext>
            </a:extLst>
          </p:cNvPr>
          <p:cNvSpPr>
            <a:spLocks/>
          </p:cNvSpPr>
          <p:nvPr/>
        </p:nvSpPr>
        <p:spPr>
          <a:xfrm>
            <a:off x="4774822" y="4632991"/>
            <a:ext cx="3714542" cy="687286"/>
          </a:xfrm>
          <a:prstGeom prst="rect">
            <a:avLst/>
          </a:prstGeom>
          <a:noFill/>
          <a:ln w="28575">
            <a:solidFill>
              <a:srgbClr val="00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6" name="接點: 肘形 45">
            <a:extLst>
              <a:ext uri="{FF2B5EF4-FFF2-40B4-BE49-F238E27FC236}">
                <a16:creationId xmlns:a16="http://schemas.microsoft.com/office/drawing/2014/main" id="{C8883E1C-9B68-11AE-75EC-9BC2E542452D}"/>
              </a:ext>
            </a:extLst>
          </p:cNvPr>
          <p:cNvCxnSpPr>
            <a:cxnSpLocks/>
            <a:stCxn id="45" idx="2"/>
            <a:endCxn id="17" idx="0"/>
          </p:cNvCxnSpPr>
          <p:nvPr/>
        </p:nvCxnSpPr>
        <p:spPr>
          <a:xfrm rot="5400000">
            <a:off x="6122226" y="5140346"/>
            <a:ext cx="329936" cy="689798"/>
          </a:xfrm>
          <a:prstGeom prst="bentConnector3">
            <a:avLst>
              <a:gd name="adj1" fmla="val 50000"/>
            </a:avLst>
          </a:prstGeom>
          <a:ln w="28575">
            <a:solidFill>
              <a:srgbClr val="0073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8577C5D5-46A5-8419-09C1-95DFF28684F3}"/>
              </a:ext>
            </a:extLst>
          </p:cNvPr>
          <p:cNvSpPr>
            <a:spLocks/>
          </p:cNvSpPr>
          <p:nvPr/>
        </p:nvSpPr>
        <p:spPr>
          <a:xfrm>
            <a:off x="5930592" y="3870665"/>
            <a:ext cx="2123748" cy="687286"/>
          </a:xfrm>
          <a:prstGeom prst="rect">
            <a:avLst/>
          </a:prstGeom>
          <a:noFill/>
          <a:ln w="28575">
            <a:solidFill>
              <a:srgbClr val="00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8FD854AE-251E-8F0A-53BF-DAE0CC14C2F5}"/>
              </a:ext>
            </a:extLst>
          </p:cNvPr>
          <p:cNvSpPr txBox="1"/>
          <p:nvPr/>
        </p:nvSpPr>
        <p:spPr>
          <a:xfrm>
            <a:off x="815667" y="1584604"/>
            <a:ext cx="852722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r>
              <a:rPr lang="en-US" altLang="zh-TW" sz="2800" b="1" dirty="0"/>
              <a:t>SINR </a:t>
            </a:r>
            <a:r>
              <a:rPr lang="zh-TW" altLang="en-US" sz="2800" b="1" dirty="0"/>
              <a:t>越高，可靠性越好；</a:t>
            </a:r>
            <a:r>
              <a:rPr lang="en-US" altLang="zh-TW" sz="2800" b="1" dirty="0"/>
              <a:t>SINR </a:t>
            </a:r>
            <a:r>
              <a:rPr lang="zh-TW" altLang="en-US" sz="2800" b="1" dirty="0"/>
              <a:t>越低，錯誤率上升。</a:t>
            </a:r>
          </a:p>
        </p:txBody>
      </p:sp>
    </p:spTree>
    <p:extLst>
      <p:ext uri="{BB962C8B-B14F-4D97-AF65-F5344CB8AC3E}">
        <p14:creationId xmlns:p14="http://schemas.microsoft.com/office/powerpoint/2010/main" val="245864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4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7" dur="indefinite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0" dur="indefinite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3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/>
      <p:bldP spid="11" grpId="1"/>
      <p:bldP spid="13" grpId="0"/>
      <p:bldP spid="15" grpId="0"/>
      <p:bldP spid="15" grpId="1"/>
      <p:bldP spid="17" grpId="0"/>
      <p:bldP spid="19" grpId="0"/>
      <p:bldP spid="31" grpId="0" animBg="1"/>
      <p:bldP spid="31" grpId="1" animBg="1"/>
      <p:bldP spid="35" grpId="0" animBg="1"/>
      <p:bldP spid="45" grpId="0" animBg="1"/>
      <p:bldP spid="40" grpId="0" animBg="1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58C40-BE89-E6DC-0152-ECFA799C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72F03DEF-57B5-3B9F-609A-7A5351BB66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73" b="31473"/>
          <a:stretch/>
        </p:blipFill>
        <p:spPr>
          <a:xfrm>
            <a:off x="1514431" y="3773098"/>
            <a:ext cx="7783033" cy="162222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79F2306-A737-2F4B-6E15-9F7685EA2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F11107E-2CDD-12F3-7496-7140FE57E3F8}"/>
              </a:ext>
            </a:extLst>
          </p:cNvPr>
          <p:cNvSpPr>
            <a:spLocks/>
          </p:cNvSpPr>
          <p:nvPr/>
        </p:nvSpPr>
        <p:spPr>
          <a:xfrm>
            <a:off x="3627120" y="4331600"/>
            <a:ext cx="345440" cy="558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FD17557-FAC3-EA05-B2D1-E8EF955E7AE9}"/>
              </a:ext>
            </a:extLst>
          </p:cNvPr>
          <p:cNvSpPr txBox="1">
            <a:spLocks/>
          </p:cNvSpPr>
          <p:nvPr/>
        </p:nvSpPr>
        <p:spPr>
          <a:xfrm>
            <a:off x="2925548" y="3429000"/>
            <a:ext cx="14031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pPr algn="ctr"/>
            <a:r>
              <a:rPr lang="zh-TW" altLang="en-US" dirty="0"/>
              <a:t>高斯 </a:t>
            </a:r>
            <a:r>
              <a:rPr lang="en-US" altLang="zh-TW" dirty="0"/>
              <a:t>Q </a:t>
            </a:r>
            <a:r>
              <a:rPr lang="zh-TW" altLang="en-US" dirty="0"/>
              <a:t>函數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0CE8875-F6A5-CB46-95C8-CCDF4EC200AE}"/>
              </a:ext>
            </a:extLst>
          </p:cNvPr>
          <p:cNvSpPr txBox="1">
            <a:spLocks/>
          </p:cNvSpPr>
          <p:nvPr/>
        </p:nvSpPr>
        <p:spPr>
          <a:xfrm>
            <a:off x="3484775" y="2870200"/>
            <a:ext cx="20332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pPr algn="ctr"/>
            <a:r>
              <a:rPr lang="zh-TW" altLang="en-US" dirty="0"/>
              <a:t>每個封包的</a:t>
            </a:r>
            <a:r>
              <a:rPr lang="en-US" altLang="zh-TW" dirty="0"/>
              <a:t>bit</a:t>
            </a:r>
            <a:r>
              <a:rPr lang="zh-TW" altLang="en-US" dirty="0"/>
              <a:t>數</a:t>
            </a:r>
          </a:p>
        </p:txBody>
      </p: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3C40FB43-8667-78E3-F1E5-EB1EEBCCBA5F}"/>
              </a:ext>
            </a:extLst>
          </p:cNvPr>
          <p:cNvCxnSpPr>
            <a:cxnSpLocks/>
            <a:stCxn id="9" idx="0"/>
            <a:endCxn id="11" idx="2"/>
          </p:cNvCxnSpPr>
          <p:nvPr/>
        </p:nvCxnSpPr>
        <p:spPr>
          <a:xfrm rot="16200000" flipV="1">
            <a:off x="3446846" y="3978606"/>
            <a:ext cx="533268" cy="172720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7D1AEC1-426C-1AFF-F884-7FBD94F23F19}"/>
              </a:ext>
            </a:extLst>
          </p:cNvPr>
          <p:cNvSpPr>
            <a:spLocks/>
          </p:cNvSpPr>
          <p:nvPr/>
        </p:nvSpPr>
        <p:spPr>
          <a:xfrm>
            <a:off x="4415051" y="4025408"/>
            <a:ext cx="172719" cy="558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FEC2F5C2-9EE6-76DB-5C25-0AAF3DDFE879}"/>
              </a:ext>
            </a:extLst>
          </p:cNvPr>
          <p:cNvCxnSpPr>
            <a:cxnSpLocks/>
            <a:stCxn id="31" idx="0"/>
            <a:endCxn id="15" idx="2"/>
          </p:cNvCxnSpPr>
          <p:nvPr/>
        </p:nvCxnSpPr>
        <p:spPr>
          <a:xfrm rot="16200000" flipV="1">
            <a:off x="4108473" y="3632469"/>
            <a:ext cx="785876" cy="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B042F83-3F53-D9F6-CB3F-77A5BCAC681E}"/>
              </a:ext>
            </a:extLst>
          </p:cNvPr>
          <p:cNvSpPr txBox="1"/>
          <p:nvPr/>
        </p:nvSpPr>
        <p:spPr>
          <a:xfrm>
            <a:off x="838200" y="1558931"/>
            <a:ext cx="991406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r>
              <a:rPr lang="zh-TW" altLang="en-US" sz="2800" b="1" dirty="0"/>
              <a:t>在有限區塊長度下，即使 </a:t>
            </a:r>
            <a:r>
              <a:rPr lang="en-US" altLang="zh-TW" sz="2800" b="1" dirty="0"/>
              <a:t>SINR </a:t>
            </a:r>
            <a:r>
              <a:rPr lang="zh-TW" altLang="en-US" sz="2800" b="1" dirty="0"/>
              <a:t>足夠高，仍可能有非零錯誤率。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5182926-1D70-A1E4-8C63-2DD8E462BF36}"/>
              </a:ext>
            </a:extLst>
          </p:cNvPr>
          <p:cNvSpPr txBox="1">
            <a:spLocks/>
          </p:cNvSpPr>
          <p:nvPr/>
        </p:nvSpPr>
        <p:spPr>
          <a:xfrm>
            <a:off x="5167338" y="3300297"/>
            <a:ext cx="7803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pPr algn="ctr"/>
            <a:r>
              <a:rPr lang="zh-TW" altLang="en-US" dirty="0"/>
              <a:t>頻寬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B66DCB-B31D-305B-DDE1-2791A6F69E18}"/>
              </a:ext>
            </a:extLst>
          </p:cNvPr>
          <p:cNvSpPr>
            <a:spLocks/>
          </p:cNvSpPr>
          <p:nvPr/>
        </p:nvSpPr>
        <p:spPr>
          <a:xfrm>
            <a:off x="5445660" y="3965525"/>
            <a:ext cx="231238" cy="558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81F928DB-64F7-1171-0CC0-BFA9C4779CE0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16200000" flipV="1">
            <a:off x="5411456" y="3815701"/>
            <a:ext cx="295896" cy="375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127BA1A-135C-BDEC-9BA5-2115D3997838}"/>
              </a:ext>
            </a:extLst>
          </p:cNvPr>
          <p:cNvSpPr txBox="1">
            <a:spLocks/>
          </p:cNvSpPr>
          <p:nvPr/>
        </p:nvSpPr>
        <p:spPr>
          <a:xfrm>
            <a:off x="5241550" y="5554750"/>
            <a:ext cx="14181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pPr algn="ctr"/>
            <a:r>
              <a:rPr lang="en-US" altLang="zh-TW" dirty="0"/>
              <a:t>Frame </a:t>
            </a:r>
            <a:r>
              <a:rPr lang="zh-TW" altLang="en-US" dirty="0"/>
              <a:t>長度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549DACB-8A90-02AF-A4BD-DD26D3B02948}"/>
              </a:ext>
            </a:extLst>
          </p:cNvPr>
          <p:cNvSpPr>
            <a:spLocks/>
          </p:cNvSpPr>
          <p:nvPr/>
        </p:nvSpPr>
        <p:spPr>
          <a:xfrm>
            <a:off x="6085249" y="4648200"/>
            <a:ext cx="304709" cy="4441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7" name="接點: 肘形 36">
            <a:extLst>
              <a:ext uri="{FF2B5EF4-FFF2-40B4-BE49-F238E27FC236}">
                <a16:creationId xmlns:a16="http://schemas.microsoft.com/office/drawing/2014/main" id="{B7049D3D-95EC-C43E-29D5-966468948440}"/>
              </a:ext>
            </a:extLst>
          </p:cNvPr>
          <p:cNvCxnSpPr>
            <a:cxnSpLocks/>
            <a:stCxn id="34" idx="2"/>
            <a:endCxn id="33" idx="0"/>
          </p:cNvCxnSpPr>
          <p:nvPr/>
        </p:nvCxnSpPr>
        <p:spPr>
          <a:xfrm rot="5400000">
            <a:off x="5862916" y="5180062"/>
            <a:ext cx="462380" cy="28699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CABA312-F302-0CD0-FD5A-F4F7F1DCF0E0}"/>
              </a:ext>
            </a:extLst>
          </p:cNvPr>
          <p:cNvSpPr txBox="1">
            <a:spLocks/>
          </p:cNvSpPr>
          <p:nvPr/>
        </p:nvSpPr>
        <p:spPr>
          <a:xfrm>
            <a:off x="5811801" y="5924082"/>
            <a:ext cx="213507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pPr algn="ctr"/>
            <a:r>
              <a:rPr lang="zh-TW" altLang="en-US" dirty="0"/>
              <a:t>訊號交換與計算的 </a:t>
            </a:r>
            <a:r>
              <a:rPr lang="en-US" altLang="zh-TW" dirty="0"/>
              <a:t>overhead</a:t>
            </a:r>
            <a:endParaRPr lang="zh-TW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CA99549-54D8-0456-7A2C-9E2855F08D15}"/>
              </a:ext>
            </a:extLst>
          </p:cNvPr>
          <p:cNvSpPr>
            <a:spLocks/>
          </p:cNvSpPr>
          <p:nvPr/>
        </p:nvSpPr>
        <p:spPr>
          <a:xfrm>
            <a:off x="6726985" y="4648200"/>
            <a:ext cx="304709" cy="4441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7" name="接點: 肘形 46">
            <a:extLst>
              <a:ext uri="{FF2B5EF4-FFF2-40B4-BE49-F238E27FC236}">
                <a16:creationId xmlns:a16="http://schemas.microsoft.com/office/drawing/2014/main" id="{743303A7-C307-6FA1-2395-27B850E194F6}"/>
              </a:ext>
            </a:extLst>
          </p:cNvPr>
          <p:cNvCxnSpPr>
            <a:cxnSpLocks/>
            <a:stCxn id="44" idx="2"/>
            <a:endCxn id="43" idx="0"/>
          </p:cNvCxnSpPr>
          <p:nvPr/>
        </p:nvCxnSpPr>
        <p:spPr>
          <a:xfrm rot="5400000">
            <a:off x="6463484" y="5508226"/>
            <a:ext cx="831712" cy="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4BFCB974-C558-F7FA-78F2-7796AE1CAA24}"/>
              </a:ext>
            </a:extLst>
          </p:cNvPr>
          <p:cNvSpPr>
            <a:spLocks/>
          </p:cNvSpPr>
          <p:nvPr/>
        </p:nvSpPr>
        <p:spPr>
          <a:xfrm>
            <a:off x="7152787" y="4668315"/>
            <a:ext cx="634841" cy="4441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384ABBA0-3E33-45C2-3F8E-54121D2E46E2}"/>
              </a:ext>
            </a:extLst>
          </p:cNvPr>
          <p:cNvCxnSpPr>
            <a:cxnSpLocks/>
            <a:stCxn id="64" idx="2"/>
            <a:endCxn id="68" idx="1"/>
          </p:cNvCxnSpPr>
          <p:nvPr/>
        </p:nvCxnSpPr>
        <p:spPr>
          <a:xfrm rot="16200000" flipH="1">
            <a:off x="7532345" y="5050348"/>
            <a:ext cx="247802" cy="372076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935804DE-74B5-CB64-A753-729610D30CA3}"/>
              </a:ext>
            </a:extLst>
          </p:cNvPr>
          <p:cNvSpPr txBox="1">
            <a:spLocks/>
          </p:cNvSpPr>
          <p:nvPr/>
        </p:nvSpPr>
        <p:spPr>
          <a:xfrm>
            <a:off x="7842284" y="5175621"/>
            <a:ext cx="21350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r>
              <a:rPr lang="zh-TW" altLang="en-US" dirty="0"/>
              <a:t>通道 </a:t>
            </a:r>
            <a:r>
              <a:rPr lang="en-US" altLang="zh-TW" dirty="0"/>
              <a:t>dispersion</a:t>
            </a:r>
            <a:endParaRPr lang="zh-TW" altLang="en-US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10488EFC-3A29-17FC-9E8E-E4A5D1A3FB6A}"/>
              </a:ext>
            </a:extLst>
          </p:cNvPr>
          <p:cNvSpPr txBox="1">
            <a:spLocks/>
          </p:cNvSpPr>
          <p:nvPr/>
        </p:nvSpPr>
        <p:spPr>
          <a:xfrm>
            <a:off x="6424697" y="3213614"/>
            <a:ext cx="304060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pPr algn="ctr"/>
            <a:r>
              <a:rPr lang="zh-TW" altLang="en-US" b="1" dirty="0"/>
              <a:t>來自向農極限，代表理論上能傳的 </a:t>
            </a:r>
            <a:r>
              <a:rPr lang="en-US" altLang="zh-TW" b="1" dirty="0"/>
              <a:t>bit </a:t>
            </a:r>
            <a:r>
              <a:rPr lang="zh-TW" altLang="en-US" b="1" dirty="0"/>
              <a:t>數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5726D8B-3A61-6ADC-EF00-F4A30AB15204}"/>
              </a:ext>
            </a:extLst>
          </p:cNvPr>
          <p:cNvSpPr>
            <a:spLocks/>
          </p:cNvSpPr>
          <p:nvPr/>
        </p:nvSpPr>
        <p:spPr>
          <a:xfrm>
            <a:off x="5445660" y="4119435"/>
            <a:ext cx="3565001" cy="413683"/>
          </a:xfrm>
          <a:prstGeom prst="rect">
            <a:avLst/>
          </a:prstGeom>
          <a:noFill/>
          <a:ln w="28575">
            <a:solidFill>
              <a:srgbClr val="00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接點: 肘形 77">
            <a:extLst>
              <a:ext uri="{FF2B5EF4-FFF2-40B4-BE49-F238E27FC236}">
                <a16:creationId xmlns:a16="http://schemas.microsoft.com/office/drawing/2014/main" id="{4F377F07-E6E0-717D-9FA0-CCF763C51FF6}"/>
              </a:ext>
            </a:extLst>
          </p:cNvPr>
          <p:cNvCxnSpPr>
            <a:cxnSpLocks/>
            <a:stCxn id="77" idx="0"/>
            <a:endCxn id="76" idx="2"/>
          </p:cNvCxnSpPr>
          <p:nvPr/>
        </p:nvCxnSpPr>
        <p:spPr>
          <a:xfrm rot="5400000" flipH="1" flipV="1">
            <a:off x="7456835" y="3631271"/>
            <a:ext cx="259490" cy="716838"/>
          </a:xfrm>
          <a:prstGeom prst="bentConnector3">
            <a:avLst>
              <a:gd name="adj1" fmla="val 50000"/>
            </a:avLst>
          </a:prstGeom>
          <a:ln w="28575">
            <a:solidFill>
              <a:srgbClr val="0073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9CD16F4B-976A-C3C5-1F25-C6B01366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BLER 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公式：將 </a:t>
            </a:r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SINR 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轉換為錯誤率</a:t>
            </a:r>
            <a:endParaRPr lang="zh-TW" dirty="0">
              <a:solidFill>
                <a:srgbClr val="006DBB"/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7591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6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9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2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5" dur="indefinite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8" dur="indefinite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1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4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7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0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3" dur="indefinite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6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9" dur="indefinite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2" dur="indefinite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indefinit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5" dur="indefinite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8" dur="indefinite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indefinite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1" dur="indefinite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indefinite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4" dur="indefinite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7" dur="indefinite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/>
      <p:bldP spid="11" grpId="1"/>
      <p:bldP spid="15" grpId="0"/>
      <p:bldP spid="15" grpId="1"/>
      <p:bldP spid="31" grpId="0" animBg="1"/>
      <p:bldP spid="31" grpId="1" animBg="1"/>
      <p:bldP spid="50" grpId="0"/>
      <p:bldP spid="21" grpId="0"/>
      <p:bldP spid="21" grpId="1"/>
      <p:bldP spid="22" grpId="0" animBg="1"/>
      <p:bldP spid="22" grpId="1" animBg="1"/>
      <p:bldP spid="33" grpId="0"/>
      <p:bldP spid="33" grpId="1"/>
      <p:bldP spid="34" grpId="0" animBg="1"/>
      <p:bldP spid="34" grpId="1" animBg="1"/>
      <p:bldP spid="43" grpId="0"/>
      <p:bldP spid="43" grpId="1"/>
      <p:bldP spid="44" grpId="0" animBg="1"/>
      <p:bldP spid="44" grpId="1" animBg="1"/>
      <p:bldP spid="64" grpId="0" animBg="1"/>
      <p:bldP spid="64" grpId="1" animBg="1"/>
      <p:bldP spid="68" grpId="0"/>
      <p:bldP spid="68" grpId="1"/>
      <p:bldP spid="76" grpId="0"/>
      <p:bldP spid="7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47913-384F-87D7-E6F1-96D051B8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ED70575-8C7A-8A4B-6FF0-9F426243F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50" name="文字方塊 49">
            <a:extLst>
              <a:ext uri="{FF2B5EF4-FFF2-40B4-BE49-F238E27FC236}">
                <a16:creationId xmlns:a16="http://schemas.microsoft.com/office/drawing/2014/main" id="{4F015E67-0BF4-28C3-8D5B-07C3D4FC6CD7}"/>
              </a:ext>
            </a:extLst>
          </p:cNvPr>
          <p:cNvSpPr txBox="1"/>
          <p:nvPr/>
        </p:nvSpPr>
        <p:spPr>
          <a:xfrm>
            <a:off x="838200" y="1558931"/>
            <a:ext cx="991406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r>
              <a:rPr lang="zh-TW" altLang="en-US" sz="2800" b="1" dirty="0"/>
              <a:t>最小化最差鏈路</a:t>
            </a:r>
            <a:r>
              <a:rPr lang="en-US" altLang="zh-TW" sz="2800" b="1" dirty="0"/>
              <a:t>BLER </a:t>
            </a:r>
            <a:r>
              <a:rPr lang="zh-TW" altLang="en-US" sz="2800" b="1" dirty="0"/>
              <a:t>的期望 </a:t>
            </a:r>
            <a:r>
              <a:rPr lang="en-US" altLang="zh-TW" sz="2800" b="1" dirty="0"/>
              <a:t>utility</a:t>
            </a:r>
            <a:r>
              <a:rPr lang="zh-TW" altLang="en-US" sz="2800" b="1" dirty="0"/>
              <a:t>。</a:t>
            </a:r>
            <a:r>
              <a:rPr lang="zh-TW" altLang="en-US" sz="2800" dirty="0"/>
              <a:t>（即 </a:t>
            </a:r>
            <a:r>
              <a:rPr lang="en-US" altLang="zh-TW" sz="2800" dirty="0"/>
              <a:t>QoS outage </a:t>
            </a:r>
            <a:r>
              <a:rPr lang="zh-TW" altLang="en-US" sz="2800" dirty="0"/>
              <a:t>指標）</a:t>
            </a:r>
            <a:endParaRPr lang="zh-TW" altLang="en-US" sz="2800" b="1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737DF33-649E-EACA-8421-907E88179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Optimization Problem</a:t>
            </a:r>
            <a:endParaRPr lang="zh-TW" altLang="en-US" dirty="0">
              <a:solidFill>
                <a:srgbClr val="006DBB"/>
              </a:solidFill>
              <a:ea typeface="+mj-lt"/>
              <a:cs typeface="+mj-lt"/>
            </a:endParaRPr>
          </a:p>
        </p:txBody>
      </p:sp>
      <p:pic>
        <p:nvPicPr>
          <p:cNvPr id="4" name="圖片 3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2CE3F577-0537-4619-012B-5081615751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75" b="32222"/>
          <a:stretch>
            <a:fillRect/>
          </a:stretch>
        </p:blipFill>
        <p:spPr>
          <a:xfrm>
            <a:off x="2853755" y="4951767"/>
            <a:ext cx="3907362" cy="694604"/>
          </a:xfrm>
          <a:prstGeom prst="rect">
            <a:avLst/>
          </a:prstGeom>
        </p:spPr>
      </p:pic>
      <p:pic>
        <p:nvPicPr>
          <p:cNvPr id="7" name="圖片 6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F66C5204-B4DF-4882-A80B-8E34FFC6DD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52" b="40569"/>
          <a:stretch>
            <a:fillRect/>
          </a:stretch>
        </p:blipFill>
        <p:spPr>
          <a:xfrm>
            <a:off x="2853755" y="3940246"/>
            <a:ext cx="6051024" cy="605123"/>
          </a:xfrm>
          <a:prstGeom prst="rect">
            <a:avLst/>
          </a:prstGeom>
        </p:spPr>
      </p:pic>
      <p:pic>
        <p:nvPicPr>
          <p:cNvPr id="12" name="圖片 11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4A2A60A0-DFC2-51C9-8F0F-A255285D76E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26" b="40789"/>
          <a:stretch>
            <a:fillRect/>
          </a:stretch>
        </p:blipFill>
        <p:spPr>
          <a:xfrm>
            <a:off x="2196445" y="3077355"/>
            <a:ext cx="5293921" cy="565330"/>
          </a:xfrm>
          <a:prstGeom prst="rect">
            <a:avLst/>
          </a:prstGeom>
        </p:spPr>
      </p:pic>
      <p:pic>
        <p:nvPicPr>
          <p:cNvPr id="14" name="圖片 13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FC37CEFE-1DCB-3364-5619-30D9940BAF8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1" b="27292"/>
          <a:stretch>
            <a:fillRect/>
          </a:stretch>
        </p:blipFill>
        <p:spPr>
          <a:xfrm>
            <a:off x="873849" y="2265955"/>
            <a:ext cx="2908760" cy="73116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2401D73F-1944-794C-9B9B-B1C5531A7042}"/>
              </a:ext>
            </a:extLst>
          </p:cNvPr>
          <p:cNvSpPr>
            <a:spLocks/>
          </p:cNvSpPr>
          <p:nvPr/>
        </p:nvSpPr>
        <p:spPr>
          <a:xfrm>
            <a:off x="2808035" y="3992328"/>
            <a:ext cx="768285" cy="4643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EF3974E-120B-BC31-3103-3E16B8434871}"/>
              </a:ext>
            </a:extLst>
          </p:cNvPr>
          <p:cNvSpPr txBox="1">
            <a:spLocks/>
          </p:cNvSpPr>
          <p:nvPr/>
        </p:nvSpPr>
        <p:spPr>
          <a:xfrm>
            <a:off x="4518062" y="4495346"/>
            <a:ext cx="57460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r>
              <a:rPr lang="en-US" altLang="zh-TW" dirty="0"/>
              <a:t>log-based utility</a:t>
            </a:r>
            <a:r>
              <a:rPr lang="zh-TW" altLang="en-US" dirty="0"/>
              <a:t>，避免 </a:t>
            </a:r>
            <a:r>
              <a:rPr lang="en-US" altLang="zh-TW" dirty="0"/>
              <a:t>BLER </a:t>
            </a:r>
            <a:r>
              <a:rPr lang="zh-TW" altLang="en-US" dirty="0"/>
              <a:t>太小時數值不穩定。</a:t>
            </a:r>
          </a:p>
        </p:txBody>
      </p: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A6A120AB-8D35-3025-7666-1107F67B08E0}"/>
              </a:ext>
            </a:extLst>
          </p:cNvPr>
          <p:cNvCxnSpPr>
            <a:cxnSpLocks/>
            <a:stCxn id="16" idx="2"/>
            <a:endCxn id="17" idx="1"/>
          </p:cNvCxnSpPr>
          <p:nvPr/>
        </p:nvCxnSpPr>
        <p:spPr>
          <a:xfrm rot="16200000" flipH="1">
            <a:off x="3743456" y="3905406"/>
            <a:ext cx="223328" cy="1325884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73C0ADEF-33C3-2A93-80A2-C0C5484DCD8D}"/>
              </a:ext>
            </a:extLst>
          </p:cNvPr>
          <p:cNvSpPr>
            <a:spLocks/>
          </p:cNvSpPr>
          <p:nvPr/>
        </p:nvSpPr>
        <p:spPr>
          <a:xfrm>
            <a:off x="2808035" y="3029843"/>
            <a:ext cx="1134782" cy="4643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0F1B885-88EC-394F-DC53-4FE1F6E84EE0}"/>
              </a:ext>
            </a:extLst>
          </p:cNvPr>
          <p:cNvSpPr>
            <a:spLocks/>
          </p:cNvSpPr>
          <p:nvPr/>
        </p:nvSpPr>
        <p:spPr>
          <a:xfrm>
            <a:off x="3476054" y="4930961"/>
            <a:ext cx="1325883" cy="6946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937E4494-04B7-E90B-20B2-7B216AEF0927}"/>
              </a:ext>
            </a:extLst>
          </p:cNvPr>
          <p:cNvCxnSpPr>
            <a:cxnSpLocks/>
            <a:stCxn id="48" idx="2"/>
          </p:cNvCxnSpPr>
          <p:nvPr/>
        </p:nvCxnSpPr>
        <p:spPr>
          <a:xfrm rot="16200000" flipH="1">
            <a:off x="4584165" y="5180395"/>
            <a:ext cx="406398" cy="1296736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3485BD62-EDAA-C970-394D-EF3266F608AD}"/>
              </a:ext>
            </a:extLst>
          </p:cNvPr>
          <p:cNvSpPr txBox="1">
            <a:spLocks/>
          </p:cNvSpPr>
          <p:nvPr/>
        </p:nvSpPr>
        <p:spPr>
          <a:xfrm>
            <a:off x="5435732" y="5847296"/>
            <a:ext cx="57460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r>
              <a:rPr lang="zh-TW" altLang="en-US" dirty="0"/>
              <a:t>每個基站的發射功率</a:t>
            </a:r>
          </a:p>
        </p:txBody>
      </p:sp>
      <p:cxnSp>
        <p:nvCxnSpPr>
          <p:cNvPr id="58" name="接點: 肘形 57">
            <a:extLst>
              <a:ext uri="{FF2B5EF4-FFF2-40B4-BE49-F238E27FC236}">
                <a16:creationId xmlns:a16="http://schemas.microsoft.com/office/drawing/2014/main" id="{0D60BA3F-0AF6-B1C1-99C1-A06107E83F57}"/>
              </a:ext>
            </a:extLst>
          </p:cNvPr>
          <p:cNvCxnSpPr>
            <a:cxnSpLocks/>
            <a:stCxn id="46" idx="2"/>
          </p:cNvCxnSpPr>
          <p:nvPr/>
        </p:nvCxnSpPr>
        <p:spPr>
          <a:xfrm rot="16200000" flipH="1">
            <a:off x="3864967" y="3004658"/>
            <a:ext cx="301654" cy="1280736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70FC1B3F-7BC6-DE63-D28A-77C899EBC40D}"/>
              </a:ext>
            </a:extLst>
          </p:cNvPr>
          <p:cNvSpPr txBox="1">
            <a:spLocks/>
          </p:cNvSpPr>
          <p:nvPr/>
        </p:nvSpPr>
        <p:spPr>
          <a:xfrm>
            <a:off x="4622309" y="3642685"/>
            <a:ext cx="57460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r>
              <a:rPr lang="zh-TW" altLang="en-US" dirty="0"/>
              <a:t>最差鏈路的 </a:t>
            </a:r>
            <a:r>
              <a:rPr lang="en-US" altLang="zh-TW" dirty="0"/>
              <a:t>BLER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2110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2" dur="indefinite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5" dur="indefinite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indefinite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8" dur="indefinite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5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8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1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indefinit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6" dur="indefinite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9" dur="indefinite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2" dur="indefinite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16" grpId="0" animBg="1"/>
      <p:bldP spid="16" grpId="1" animBg="1"/>
      <p:bldP spid="17" grpId="0"/>
      <p:bldP spid="17" grpId="1"/>
      <p:bldP spid="46" grpId="0" animBg="1"/>
      <p:bldP spid="46" grpId="1" animBg="1"/>
      <p:bldP spid="48" grpId="0" animBg="1"/>
      <p:bldP spid="48" grpId="1" animBg="1"/>
      <p:bldP spid="57" grpId="0"/>
      <p:bldP spid="57" grpId="1"/>
      <p:bldP spid="60" grpId="0"/>
      <p:bldP spid="6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AFEF1-C855-7E01-B93C-AF4459F7E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14A6C3E-7D70-AC90-3EAA-5BEDA319B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DDC04BA7-980B-EE18-FC2F-4FFBF9B8F136}"/>
              </a:ext>
            </a:extLst>
          </p:cNvPr>
          <p:cNvSpPr/>
          <p:nvPr/>
        </p:nvSpPr>
        <p:spPr>
          <a:xfrm>
            <a:off x="6096000" y="3879861"/>
            <a:ext cx="3388409" cy="886205"/>
          </a:xfrm>
          <a:prstGeom prst="rightArrow">
            <a:avLst/>
          </a:prstGeom>
          <a:solidFill>
            <a:srgbClr val="006DBB"/>
          </a:solidFill>
          <a:ln>
            <a:solidFill>
              <a:srgbClr val="006D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箭號: 向右 27">
            <a:extLst>
              <a:ext uri="{FF2B5EF4-FFF2-40B4-BE49-F238E27FC236}">
                <a16:creationId xmlns:a16="http://schemas.microsoft.com/office/drawing/2014/main" id="{9167803D-8141-5214-55FA-A1F702D4D38F}"/>
              </a:ext>
            </a:extLst>
          </p:cNvPr>
          <p:cNvSpPr/>
          <p:nvPr/>
        </p:nvSpPr>
        <p:spPr>
          <a:xfrm>
            <a:off x="6096000" y="1654489"/>
            <a:ext cx="3388409" cy="886205"/>
          </a:xfrm>
          <a:prstGeom prst="rightArrow">
            <a:avLst/>
          </a:prstGeom>
          <a:solidFill>
            <a:srgbClr val="006DBB"/>
          </a:solidFill>
          <a:ln>
            <a:solidFill>
              <a:srgbClr val="006D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箭號: 彎曲 24">
            <a:extLst>
              <a:ext uri="{FF2B5EF4-FFF2-40B4-BE49-F238E27FC236}">
                <a16:creationId xmlns:a16="http://schemas.microsoft.com/office/drawing/2014/main" id="{DC55D682-C899-19A0-C15E-CE04843F8E99}"/>
              </a:ext>
            </a:extLst>
          </p:cNvPr>
          <p:cNvSpPr/>
          <p:nvPr/>
        </p:nvSpPr>
        <p:spPr>
          <a:xfrm flipV="1">
            <a:off x="2433575" y="3096880"/>
            <a:ext cx="1742906" cy="1724647"/>
          </a:xfrm>
          <a:prstGeom prst="bentArrow">
            <a:avLst/>
          </a:prstGeom>
          <a:solidFill>
            <a:srgbClr val="006DBB"/>
          </a:solidFill>
          <a:ln>
            <a:solidFill>
              <a:srgbClr val="006D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箭號: 彎曲 23">
            <a:extLst>
              <a:ext uri="{FF2B5EF4-FFF2-40B4-BE49-F238E27FC236}">
                <a16:creationId xmlns:a16="http://schemas.microsoft.com/office/drawing/2014/main" id="{569F4125-CA9A-1E3C-FD5A-7C047C41E72A}"/>
              </a:ext>
            </a:extLst>
          </p:cNvPr>
          <p:cNvSpPr/>
          <p:nvPr/>
        </p:nvSpPr>
        <p:spPr>
          <a:xfrm>
            <a:off x="2448614" y="1662525"/>
            <a:ext cx="1742906" cy="2066824"/>
          </a:xfrm>
          <a:prstGeom prst="bentArrow">
            <a:avLst/>
          </a:prstGeom>
          <a:solidFill>
            <a:srgbClr val="006DBB"/>
          </a:solidFill>
          <a:ln>
            <a:solidFill>
              <a:srgbClr val="006D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B33A794-D17F-EA5A-D387-DD4DE3273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架構形成</a:t>
            </a: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91767A46-211C-AE59-D4A5-D274C27780C5}"/>
              </a:ext>
            </a:extLst>
          </p:cNvPr>
          <p:cNvSpPr/>
          <p:nvPr/>
        </p:nvSpPr>
        <p:spPr>
          <a:xfrm>
            <a:off x="-313047" y="2901911"/>
            <a:ext cx="3388409" cy="886205"/>
          </a:xfrm>
          <a:prstGeom prst="rightArrow">
            <a:avLst/>
          </a:prstGeom>
          <a:solidFill>
            <a:srgbClr val="006DBB"/>
          </a:solidFill>
          <a:ln>
            <a:solidFill>
              <a:srgbClr val="006D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E175268F-EEC5-2E94-6058-B69145EFD25E}"/>
              </a:ext>
            </a:extLst>
          </p:cNvPr>
          <p:cNvGrpSpPr/>
          <p:nvPr/>
        </p:nvGrpSpPr>
        <p:grpSpPr>
          <a:xfrm>
            <a:off x="3090401" y="2790803"/>
            <a:ext cx="3062773" cy="1040154"/>
            <a:chOff x="610411" y="2388846"/>
            <a:chExt cx="3062773" cy="104015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5CF7668-3868-B97F-F74F-22EB68E7A076}"/>
                </a:ext>
              </a:extLst>
            </p:cNvPr>
            <p:cNvSpPr/>
            <p:nvPr/>
          </p:nvSpPr>
          <p:spPr>
            <a:xfrm>
              <a:off x="610411" y="2388846"/>
              <a:ext cx="2915110" cy="10401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DEBB4549-7372-61B9-64F8-3D367CDCF893}"/>
                </a:ext>
              </a:extLst>
            </p:cNvPr>
            <p:cNvSpPr txBox="1"/>
            <p:nvPr/>
          </p:nvSpPr>
          <p:spPr>
            <a:xfrm>
              <a:off x="610411" y="2678997"/>
              <a:ext cx="3062773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TW"/>
              </a:defPPr>
              <a:lvl1pPr marL="285750" indent="-285750">
                <a:lnSpc>
                  <a:spcPct val="200000"/>
                </a:lnSpc>
                <a:buFont typeface="Wingdings"/>
                <a:buChar char="Ø"/>
                <a:defRPr>
                  <a:ea typeface="+mn-lt"/>
                  <a:cs typeface="+mn-lt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TW" altLang="en-US" sz="2400" b="1" dirty="0"/>
                <a:t>現有 </a:t>
              </a:r>
              <a:r>
                <a:rPr lang="en-US" altLang="zh-TW" sz="2400" b="1" dirty="0"/>
                <a:t>GNN</a:t>
              </a:r>
              <a:r>
                <a:rPr lang="zh-TW" altLang="en-US" sz="2400" b="1" dirty="0"/>
                <a:t> 架構</a:t>
              </a: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AE661759-7EA4-72EA-D1D6-7FA152B92244}"/>
              </a:ext>
            </a:extLst>
          </p:cNvPr>
          <p:cNvGrpSpPr/>
          <p:nvPr/>
        </p:nvGrpSpPr>
        <p:grpSpPr>
          <a:xfrm>
            <a:off x="4211854" y="3923312"/>
            <a:ext cx="3062773" cy="1040154"/>
            <a:chOff x="610411" y="2388846"/>
            <a:chExt cx="3062773" cy="104015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2A09E0D-31EF-B9FE-BD07-11F4F257B33A}"/>
                </a:ext>
              </a:extLst>
            </p:cNvPr>
            <p:cNvSpPr/>
            <p:nvPr/>
          </p:nvSpPr>
          <p:spPr>
            <a:xfrm>
              <a:off x="610411" y="2388846"/>
              <a:ext cx="2915110" cy="10401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6E178C90-D3DD-74B0-9EED-9E3CEC3FC500}"/>
                </a:ext>
              </a:extLst>
            </p:cNvPr>
            <p:cNvSpPr txBox="1"/>
            <p:nvPr/>
          </p:nvSpPr>
          <p:spPr>
            <a:xfrm>
              <a:off x="610411" y="2678997"/>
              <a:ext cx="3062773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TW"/>
              </a:defPPr>
              <a:lvl1pPr marL="285750" indent="-285750">
                <a:lnSpc>
                  <a:spcPct val="200000"/>
                </a:lnSpc>
                <a:buFont typeface="Wingdings"/>
                <a:buChar char="Ø"/>
                <a:defRPr>
                  <a:ea typeface="+mn-lt"/>
                  <a:cs typeface="+mn-lt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altLang="zh-TW" sz="2400" b="1" dirty="0"/>
                <a:t>PG4U</a:t>
              </a:r>
              <a:r>
                <a:rPr lang="zh-TW" altLang="en-US" sz="2400" b="1" dirty="0"/>
                <a:t> 架構</a:t>
              </a: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49531D59-2785-C47E-B015-CD5E375292D7}"/>
              </a:ext>
            </a:extLst>
          </p:cNvPr>
          <p:cNvGrpSpPr/>
          <p:nvPr/>
        </p:nvGrpSpPr>
        <p:grpSpPr>
          <a:xfrm>
            <a:off x="7395386" y="1601143"/>
            <a:ext cx="4388776" cy="1040154"/>
            <a:chOff x="610411" y="2389752"/>
            <a:chExt cx="4388776" cy="1040154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50FB3AA-5017-58C8-C033-E5C8638511C7}"/>
                </a:ext>
              </a:extLst>
            </p:cNvPr>
            <p:cNvSpPr/>
            <p:nvPr/>
          </p:nvSpPr>
          <p:spPr>
            <a:xfrm>
              <a:off x="610411" y="2389752"/>
              <a:ext cx="4388776" cy="10401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B8281C0B-49C1-56B5-FA5E-D3BFF0819828}"/>
                </a:ext>
              </a:extLst>
            </p:cNvPr>
            <p:cNvSpPr txBox="1"/>
            <p:nvPr/>
          </p:nvSpPr>
          <p:spPr>
            <a:xfrm>
              <a:off x="610411" y="2678997"/>
              <a:ext cx="4388776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TW"/>
              </a:defPPr>
              <a:lvl1pPr marL="285750" indent="-285750">
                <a:lnSpc>
                  <a:spcPct val="200000"/>
                </a:lnSpc>
                <a:buFont typeface="Wingdings"/>
                <a:buChar char="Ø"/>
                <a:defRPr>
                  <a:ea typeface="+mn-lt"/>
                  <a:cs typeface="+mn-lt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altLang="zh-TW" sz="2400" b="1" dirty="0"/>
                <a:t>G4U</a:t>
              </a:r>
              <a:r>
                <a:rPr lang="zh-TW" altLang="en-US" sz="2400" b="1" dirty="0"/>
                <a:t> </a:t>
              </a:r>
              <a:r>
                <a:rPr lang="en-US" altLang="zh-TW" sz="2400" b="1" dirty="0"/>
                <a:t>with Transformer</a:t>
              </a:r>
              <a:r>
                <a:rPr lang="zh-TW" altLang="en-US" sz="2400" b="1" dirty="0"/>
                <a:t> 架構</a:t>
              </a:r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F7F27A03-443E-6A52-870D-798D82A1ECDC}"/>
              </a:ext>
            </a:extLst>
          </p:cNvPr>
          <p:cNvGrpSpPr/>
          <p:nvPr/>
        </p:nvGrpSpPr>
        <p:grpSpPr>
          <a:xfrm>
            <a:off x="7395386" y="3842756"/>
            <a:ext cx="4388776" cy="1040154"/>
            <a:chOff x="610411" y="2388846"/>
            <a:chExt cx="4388776" cy="1040154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047D56D-705E-561A-1C09-9E64523AFA82}"/>
                </a:ext>
              </a:extLst>
            </p:cNvPr>
            <p:cNvSpPr/>
            <p:nvPr/>
          </p:nvSpPr>
          <p:spPr>
            <a:xfrm>
              <a:off x="610411" y="2388846"/>
              <a:ext cx="4388776" cy="10401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37697056-85FB-D853-A280-09179B10B006}"/>
                </a:ext>
              </a:extLst>
            </p:cNvPr>
            <p:cNvSpPr txBox="1"/>
            <p:nvPr/>
          </p:nvSpPr>
          <p:spPr>
            <a:xfrm>
              <a:off x="610411" y="2678997"/>
              <a:ext cx="4388776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TW"/>
              </a:defPPr>
              <a:lvl1pPr marL="285750" indent="-285750">
                <a:lnSpc>
                  <a:spcPct val="200000"/>
                </a:lnSpc>
                <a:buFont typeface="Wingdings"/>
                <a:buChar char="Ø"/>
                <a:defRPr>
                  <a:ea typeface="+mn-lt"/>
                  <a:cs typeface="+mn-lt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altLang="zh-TW" sz="2400" b="1" dirty="0"/>
                <a:t>PG4U</a:t>
              </a:r>
              <a:r>
                <a:rPr lang="zh-TW" altLang="en-US" sz="2400" b="1" dirty="0"/>
                <a:t> </a:t>
              </a:r>
              <a:r>
                <a:rPr lang="en-US" altLang="zh-TW" sz="2400" b="1" dirty="0"/>
                <a:t>with Transformer</a:t>
              </a:r>
              <a:r>
                <a:rPr lang="zh-TW" altLang="en-US" sz="2400" b="1" dirty="0"/>
                <a:t> 架構</a:t>
              </a: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A8B6D76-222B-54EE-B10C-32935DB3AC79}"/>
              </a:ext>
            </a:extLst>
          </p:cNvPr>
          <p:cNvGrpSpPr/>
          <p:nvPr/>
        </p:nvGrpSpPr>
        <p:grpSpPr>
          <a:xfrm>
            <a:off x="4211854" y="1591776"/>
            <a:ext cx="3062773" cy="1040154"/>
            <a:chOff x="610411" y="2388846"/>
            <a:chExt cx="3062773" cy="104015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2F92EEDE-F29A-86CA-BA51-96585D2FF128}"/>
                </a:ext>
              </a:extLst>
            </p:cNvPr>
            <p:cNvSpPr/>
            <p:nvPr/>
          </p:nvSpPr>
          <p:spPr>
            <a:xfrm>
              <a:off x="610411" y="2388846"/>
              <a:ext cx="2915110" cy="10401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9910EC7A-802A-1A73-EE99-2AF7901C3021}"/>
                </a:ext>
              </a:extLst>
            </p:cNvPr>
            <p:cNvSpPr txBox="1"/>
            <p:nvPr/>
          </p:nvSpPr>
          <p:spPr>
            <a:xfrm>
              <a:off x="610411" y="2678997"/>
              <a:ext cx="3062773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TW"/>
              </a:defPPr>
              <a:lvl1pPr marL="285750" indent="-285750">
                <a:lnSpc>
                  <a:spcPct val="200000"/>
                </a:lnSpc>
                <a:buFont typeface="Wingdings"/>
                <a:buChar char="Ø"/>
                <a:defRPr>
                  <a:ea typeface="+mn-lt"/>
                  <a:cs typeface="+mn-lt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altLang="zh-TW" sz="2400" b="1" dirty="0"/>
                <a:t>G4U</a:t>
              </a:r>
              <a:r>
                <a:rPr lang="zh-TW" altLang="en-US" sz="2400" b="1" dirty="0"/>
                <a:t> 架構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758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0.00023 L -0.23737 0.00023 " pathEditMode="relative" ptsTypes="AA">
                                      <p:cBhvr>
                                        <p:cTn id="6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7037E-7 L -0.07539 -3.7037E-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33333E-6 L -0.07539 3.33333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5430C-7E7D-8B5B-1888-7AC5C049D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5332CB5-B93F-E36A-C1E2-135DA07C0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F0CA007-881E-69F0-8AAC-457C89AF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G4U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 </a:t>
            </a:r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with Transformer 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架構</a:t>
            </a:r>
          </a:p>
        </p:txBody>
      </p:sp>
      <p:pic>
        <p:nvPicPr>
          <p:cNvPr id="7" name="圖片 6" descr="一張含有 文字, 螢幕擷取畫面, 圖表, 數字 的圖片&#10;&#10;AI 產生的內容可能不正確。">
            <a:extLst>
              <a:ext uri="{FF2B5EF4-FFF2-40B4-BE49-F238E27FC236}">
                <a16:creationId xmlns:a16="http://schemas.microsoft.com/office/drawing/2014/main" id="{1DEE79BA-C4F9-4513-3E23-A8F5E57B9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44" y="1690688"/>
            <a:ext cx="8103274" cy="456561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6D6C2A6-EB76-9732-24A0-82E0FB9D4424}"/>
              </a:ext>
            </a:extLst>
          </p:cNvPr>
          <p:cNvSpPr/>
          <p:nvPr/>
        </p:nvSpPr>
        <p:spPr>
          <a:xfrm>
            <a:off x="1749920" y="1572768"/>
            <a:ext cx="1107332" cy="3596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42F1C-52B9-5D2D-9DBA-052F5BE2432C}"/>
              </a:ext>
            </a:extLst>
          </p:cNvPr>
          <p:cNvSpPr/>
          <p:nvPr/>
        </p:nvSpPr>
        <p:spPr>
          <a:xfrm>
            <a:off x="232744" y="2487168"/>
            <a:ext cx="954464" cy="3596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AB4D203-DEEB-D4B8-E476-4B14C45DA9D1}"/>
              </a:ext>
            </a:extLst>
          </p:cNvPr>
          <p:cNvSpPr/>
          <p:nvPr/>
        </p:nvSpPr>
        <p:spPr>
          <a:xfrm>
            <a:off x="1655692" y="2103120"/>
            <a:ext cx="1159148" cy="9936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F8F51D-B339-291D-55D6-E61C1DF26436}"/>
              </a:ext>
            </a:extLst>
          </p:cNvPr>
          <p:cNvSpPr/>
          <p:nvPr/>
        </p:nvSpPr>
        <p:spPr>
          <a:xfrm>
            <a:off x="4843823" y="4051138"/>
            <a:ext cx="2002420" cy="8798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BE38D1-E163-7548-7727-13D36F25DF27}"/>
              </a:ext>
            </a:extLst>
          </p:cNvPr>
          <p:cNvSpPr/>
          <p:nvPr/>
        </p:nvSpPr>
        <p:spPr>
          <a:xfrm>
            <a:off x="3952573" y="2091673"/>
            <a:ext cx="1159149" cy="10282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EDF151-063B-88B3-EB77-2989F4F7C5E6}"/>
              </a:ext>
            </a:extLst>
          </p:cNvPr>
          <p:cNvSpPr/>
          <p:nvPr/>
        </p:nvSpPr>
        <p:spPr>
          <a:xfrm>
            <a:off x="5856608" y="2141302"/>
            <a:ext cx="1159149" cy="6539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E6D7E9-B25E-6AB6-451A-BF4D4861597E}"/>
              </a:ext>
            </a:extLst>
          </p:cNvPr>
          <p:cNvSpPr/>
          <p:nvPr/>
        </p:nvSpPr>
        <p:spPr>
          <a:xfrm>
            <a:off x="5687094" y="1666667"/>
            <a:ext cx="1726309" cy="2657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AB2A31-8342-33C6-06BC-A54861F32623}"/>
              </a:ext>
            </a:extLst>
          </p:cNvPr>
          <p:cNvSpPr/>
          <p:nvPr/>
        </p:nvSpPr>
        <p:spPr>
          <a:xfrm>
            <a:off x="2114126" y="3611193"/>
            <a:ext cx="2376851" cy="14741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4F852A8-D165-34E7-B38B-862A60248BAC}"/>
              </a:ext>
            </a:extLst>
          </p:cNvPr>
          <p:cNvSpPr txBox="1"/>
          <p:nvPr/>
        </p:nvSpPr>
        <p:spPr>
          <a:xfrm>
            <a:off x="8082726" y="3257995"/>
            <a:ext cx="3730879" cy="10194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r>
              <a:rPr lang="zh-TW" altLang="en-US" b="1" dirty="0"/>
              <a:t>在本地初始化</a:t>
            </a:r>
            <a:r>
              <a:rPr lang="en-US" altLang="zh-TW" dirty="0"/>
              <a:t>(Pilot beamformer)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dirty="0"/>
              <a:t>   </a:t>
            </a:r>
            <a:r>
              <a:rPr lang="en-US" altLang="zh-TW" dirty="0"/>
              <a:t>    </a:t>
            </a:r>
            <a:r>
              <a:rPr lang="zh-TW" altLang="en-US" dirty="0"/>
              <a:t>初始化，產生導頻。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D5B7B86-B52A-304E-6344-88BBB8EF6D1C}"/>
              </a:ext>
            </a:extLst>
          </p:cNvPr>
          <p:cNvSpPr txBox="1"/>
          <p:nvPr/>
        </p:nvSpPr>
        <p:spPr>
          <a:xfrm>
            <a:off x="4980803" y="1096289"/>
            <a:ext cx="3730879" cy="569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 marL="0" indent="0" algn="ctr">
              <a:buNone/>
            </a:pPr>
            <a:r>
              <a:rPr lang="zh-TW" altLang="en-US" b="1" dirty="0">
                <a:solidFill>
                  <a:srgbClr val="FF0000"/>
                </a:solidFill>
              </a:rPr>
              <a:t>實際資料傳輸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9FCBE01-DB69-CAE5-C3F6-993A843A2B2A}"/>
              </a:ext>
            </a:extLst>
          </p:cNvPr>
          <p:cNvSpPr txBox="1"/>
          <p:nvPr/>
        </p:nvSpPr>
        <p:spPr>
          <a:xfrm>
            <a:off x="7622921" y="1286101"/>
            <a:ext cx="37308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dirty="0">
                <a:solidFill>
                  <a:srgbClr val="FF0000"/>
                </a:solidFill>
              </a:rPr>
              <a:t>包含 </a:t>
            </a:r>
            <a:r>
              <a:rPr lang="en-US" altLang="zh-TW" dirty="0">
                <a:solidFill>
                  <a:srgbClr val="FF0000"/>
                </a:solidFill>
              </a:rPr>
              <a:t>beamforming </a:t>
            </a:r>
            <a:r>
              <a:rPr lang="zh-TW" altLang="en-US" dirty="0">
                <a:solidFill>
                  <a:srgbClr val="FF0000"/>
                </a:solidFill>
              </a:rPr>
              <a:t>權重與功率控制係數，用於資料傳輸。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7C8B17D-353B-3EF4-A183-61ECEEB8028A}"/>
              </a:ext>
            </a:extLst>
          </p:cNvPr>
          <p:cNvSpPr txBox="1"/>
          <p:nvPr/>
        </p:nvSpPr>
        <p:spPr>
          <a:xfrm>
            <a:off x="8082725" y="4403418"/>
            <a:ext cx="3989670" cy="14373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r>
              <a:rPr lang="en-US" altLang="zh-TW" b="1" dirty="0"/>
              <a:t>Update</a:t>
            </a:r>
            <a:r>
              <a:rPr lang="zh-TW" altLang="en-US" dirty="0"/>
              <a:t> </a:t>
            </a:r>
            <a:r>
              <a:rPr lang="zh-TW" altLang="en-US" b="1" dirty="0"/>
              <a:t>這裡包含兩個部分</a:t>
            </a:r>
            <a:endParaRPr lang="en-US" altLang="zh-TW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dirty="0"/>
              <a:t>OTA </a:t>
            </a:r>
            <a:r>
              <a:rPr lang="zh-TW" altLang="en-US" dirty="0"/>
              <a:t>聚合鄰居干擾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dirty="0"/>
              <a:t>Transformer refinement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125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1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1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1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1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  <p:bldP spid="3" grpId="0" animBg="1"/>
      <p:bldP spid="3" grpId="1" animBg="1"/>
      <p:bldP spid="4" grpId="0" uiExpand="1" build="p"/>
      <p:bldP spid="4" grpId="1" build="allAtOnce"/>
      <p:bldP spid="15" grpId="0"/>
      <p:bldP spid="21" grpId="0"/>
      <p:bldP spid="23" grpId="0" uiExpand="1" build="p"/>
      <p:bldP spid="23" grpId="1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B01E-816A-BF54-387A-FA8F35C1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EB263A8-2202-BF90-D9DE-FACA61442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1C5B797-2FD9-7B0A-4DD4-11FF14D9A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現有 </a:t>
            </a:r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GNN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 架構</a:t>
            </a: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5BE4441E-3DD9-3CA9-9223-5787CDDC2196}"/>
              </a:ext>
            </a:extLst>
          </p:cNvPr>
          <p:cNvSpPr/>
          <p:nvPr/>
        </p:nvSpPr>
        <p:spPr>
          <a:xfrm>
            <a:off x="0" y="1400537"/>
            <a:ext cx="12126633" cy="3843457"/>
          </a:xfrm>
          <a:prstGeom prst="rightArrow">
            <a:avLst/>
          </a:prstGeom>
          <a:solidFill>
            <a:srgbClr val="006DBB"/>
          </a:solidFill>
          <a:ln>
            <a:solidFill>
              <a:srgbClr val="006D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753AF1-76E1-A125-AE32-0F786672DF4E}"/>
              </a:ext>
            </a:extLst>
          </p:cNvPr>
          <p:cNvSpPr/>
          <p:nvPr/>
        </p:nvSpPr>
        <p:spPr>
          <a:xfrm>
            <a:off x="173530" y="2155166"/>
            <a:ext cx="5625297" cy="24831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9A8B37F-94A7-1061-D521-5B892E6F65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5" b="37915"/>
          <a:stretch/>
        </p:blipFill>
        <p:spPr>
          <a:xfrm>
            <a:off x="463440" y="3699508"/>
            <a:ext cx="5045475" cy="685953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21093163-FF39-0473-8E6E-F55B18473220}"/>
              </a:ext>
            </a:extLst>
          </p:cNvPr>
          <p:cNvSpPr txBox="1"/>
          <p:nvPr/>
        </p:nvSpPr>
        <p:spPr>
          <a:xfrm>
            <a:off x="259376" y="2327496"/>
            <a:ext cx="58039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zh-TW" altLang="en-US" sz="2400" b="1" dirty="0"/>
              <a:t>訊息生成 </a:t>
            </a:r>
            <a:r>
              <a:rPr lang="en-US" altLang="zh-TW" sz="2400" b="1" dirty="0"/>
              <a:t>(Message generation)</a:t>
            </a:r>
            <a:endParaRPr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2CB01E8A-E876-F3A9-8D6C-FBBD293C4A19}"/>
                  </a:ext>
                </a:extLst>
              </p:cNvPr>
              <p:cNvSpPr txBox="1"/>
              <p:nvPr/>
            </p:nvSpPr>
            <p:spPr>
              <a:xfrm>
                <a:off x="331195" y="2897459"/>
                <a:ext cx="5309963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TW"/>
                </a:defPPr>
                <a:lvl1pPr marL="285750" indent="-285750">
                  <a:lnSpc>
                    <a:spcPct val="200000"/>
                  </a:lnSpc>
                  <a:buFont typeface="Wingdings"/>
                  <a:buChar char="Ø"/>
                  <a:defRPr>
                    <a:ea typeface="+mn-lt"/>
                    <a:cs typeface="+mn-lt"/>
                  </a:defRPr>
                </a:lvl1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zh-TW" altLang="en-US" dirty="0"/>
                  <a:t>節點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TW" altLang="en-US" dirty="0"/>
                  <a:t> 根據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直接鏈路</a:t>
                </a:r>
                <a:r>
                  <a:rPr lang="zh-TW" altLang="en-US" dirty="0"/>
                  <a:t>、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干擾鏈路</a:t>
                </a:r>
                <a:r>
                  <a:rPr lang="zh-TW" altLang="en-US" dirty="0"/>
                  <a:t>與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自身嵌入</a:t>
                </a:r>
                <a:r>
                  <a:rPr lang="zh-TW" altLang="en-US" dirty="0"/>
                  <a:t>，產生傳給節點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TW" altLang="en-US" dirty="0"/>
                  <a:t>的訊息。</a:t>
                </a: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2CB01E8A-E876-F3A9-8D6C-FBBD293C4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95" y="2897459"/>
                <a:ext cx="5309963" cy="646331"/>
              </a:xfrm>
              <a:prstGeom prst="rect">
                <a:avLst/>
              </a:prstGeom>
              <a:blipFill>
                <a:blip r:embed="rId5"/>
                <a:stretch>
                  <a:fillRect l="-918" t="-5660" b="-132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A2D81518-DE7F-8F1F-16AF-7DBBA8D1E08F}"/>
              </a:ext>
            </a:extLst>
          </p:cNvPr>
          <p:cNvSpPr/>
          <p:nvPr/>
        </p:nvSpPr>
        <p:spPr>
          <a:xfrm>
            <a:off x="6063316" y="2155166"/>
            <a:ext cx="5625297" cy="24831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251A090-BB47-9A8F-9A6C-2A0206D752BD}"/>
              </a:ext>
            </a:extLst>
          </p:cNvPr>
          <p:cNvSpPr txBox="1"/>
          <p:nvPr/>
        </p:nvSpPr>
        <p:spPr>
          <a:xfrm>
            <a:off x="6149162" y="2327496"/>
            <a:ext cx="52578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zh-TW" altLang="en-US" sz="2400" b="1" dirty="0"/>
              <a:t>訊息傳遞與聚合 </a:t>
            </a:r>
            <a:r>
              <a:rPr lang="en-US" altLang="zh-TW" sz="2400" b="1" dirty="0"/>
              <a:t>(Message passing and aggregation)</a:t>
            </a:r>
            <a:endParaRPr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C6B3BFF-91EB-6647-9185-11D9B9AA0745}"/>
                  </a:ext>
                </a:extLst>
              </p:cNvPr>
              <p:cNvSpPr txBox="1"/>
              <p:nvPr/>
            </p:nvSpPr>
            <p:spPr>
              <a:xfrm>
                <a:off x="6361487" y="3226083"/>
                <a:ext cx="5045475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TW"/>
                </a:defPPr>
                <a:lvl1pPr marL="285750" indent="-285750">
                  <a:lnSpc>
                    <a:spcPct val="200000"/>
                  </a:lnSpc>
                  <a:buFont typeface="Wingdings"/>
                  <a:buChar char="Ø"/>
                  <a:defRPr>
                    <a:ea typeface="+mn-lt"/>
                    <a:cs typeface="+mn-lt"/>
                  </a:defRPr>
                </a:lvl1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zh-TW" altLang="en-US" dirty="0"/>
                  <a:t>節點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TW" altLang="en-US" dirty="0"/>
                  <a:t> 將所有鄰居傳來的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訊息聚合</a:t>
                </a:r>
                <a:r>
                  <a:rPr lang="zh-TW" altLang="en-US" dirty="0"/>
                  <a:t>。</a:t>
                </a: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C6B3BFF-91EB-6647-9185-11D9B9AA0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487" y="3226083"/>
                <a:ext cx="5045475" cy="369332"/>
              </a:xfrm>
              <a:prstGeom prst="rect">
                <a:avLst/>
              </a:prstGeom>
              <a:blipFill>
                <a:blip r:embed="rId6"/>
                <a:stretch>
                  <a:fillRect l="-1088" t="-9836" b="-229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351FFE6B-EFCC-83A4-3DAB-518DB3008D9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53" b="35208"/>
          <a:stretch>
            <a:fillRect/>
          </a:stretch>
        </p:blipFill>
        <p:spPr>
          <a:xfrm>
            <a:off x="6271167" y="3699508"/>
            <a:ext cx="5013789" cy="77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7" grpId="0"/>
      <p:bldP spid="18" grpId="0"/>
      <p:bldP spid="23" grpId="0" animBg="1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B788E-9C70-A4AF-A498-07EFB3250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FDF0A9F-5429-3188-DA3D-70C2E70E2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5E3C4EE-D134-73BF-659F-AE6374D6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現有 </a:t>
            </a:r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GNN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 架構</a:t>
            </a: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6C7093D7-4D3F-4FA7-C41A-7365CB272D46}"/>
              </a:ext>
            </a:extLst>
          </p:cNvPr>
          <p:cNvSpPr/>
          <p:nvPr/>
        </p:nvSpPr>
        <p:spPr>
          <a:xfrm>
            <a:off x="0" y="1400537"/>
            <a:ext cx="12126633" cy="3843457"/>
          </a:xfrm>
          <a:prstGeom prst="rightArrow">
            <a:avLst/>
          </a:prstGeom>
          <a:solidFill>
            <a:srgbClr val="006DBB"/>
          </a:solidFill>
          <a:ln>
            <a:solidFill>
              <a:srgbClr val="006D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205D28-3CCE-EED0-DF82-78B06AFECB66}"/>
              </a:ext>
            </a:extLst>
          </p:cNvPr>
          <p:cNvSpPr/>
          <p:nvPr/>
        </p:nvSpPr>
        <p:spPr>
          <a:xfrm>
            <a:off x="173530" y="2155166"/>
            <a:ext cx="5625297" cy="24831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8D28300-82EE-E314-D911-DFBAFF1AD0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5" b="37915"/>
          <a:stretch/>
        </p:blipFill>
        <p:spPr>
          <a:xfrm>
            <a:off x="463440" y="3699508"/>
            <a:ext cx="5045475" cy="685953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068D97B3-689B-5B5B-887B-C7736FA83438}"/>
              </a:ext>
            </a:extLst>
          </p:cNvPr>
          <p:cNvSpPr txBox="1"/>
          <p:nvPr/>
        </p:nvSpPr>
        <p:spPr>
          <a:xfrm>
            <a:off x="259376" y="2327496"/>
            <a:ext cx="58039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zh-TW" altLang="en-US" sz="2400" b="1" dirty="0"/>
              <a:t>堪入更新 </a:t>
            </a:r>
            <a:r>
              <a:rPr lang="en-US" altLang="zh-TW" sz="2400" b="1" dirty="0"/>
              <a:t>(Embedding update)</a:t>
            </a:r>
            <a:endParaRPr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25B613A3-5224-3BED-8181-D00BC45C1E96}"/>
                  </a:ext>
                </a:extLst>
              </p:cNvPr>
              <p:cNvSpPr txBox="1"/>
              <p:nvPr/>
            </p:nvSpPr>
            <p:spPr>
              <a:xfrm>
                <a:off x="463441" y="2958917"/>
                <a:ext cx="5161856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TW"/>
                </a:defPPr>
                <a:lvl1pPr marL="285750" indent="-285750">
                  <a:lnSpc>
                    <a:spcPct val="200000"/>
                  </a:lnSpc>
                  <a:buFont typeface="Wingdings"/>
                  <a:buChar char="Ø"/>
                  <a:defRPr>
                    <a:ea typeface="+mn-lt"/>
                    <a:cs typeface="+mn-lt"/>
                  </a:defRPr>
                </a:lvl1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zh-TW" altLang="en-US" dirty="0"/>
                  <a:t>節點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TW" altLang="en-US" dirty="0"/>
                  <a:t>結合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自身舊嵌入</a:t>
                </a:r>
                <a:r>
                  <a:rPr lang="zh-TW" altLang="en-US" dirty="0"/>
                  <a:t>、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聚合訊息</a:t>
                </a:r>
                <a:r>
                  <a:rPr lang="zh-TW" altLang="en-US" dirty="0"/>
                  <a:t>與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直接鏈路 </a:t>
                </a:r>
                <a:r>
                  <a:rPr lang="en-US" altLang="zh-TW" b="1" dirty="0">
                    <a:solidFill>
                      <a:srgbClr val="FF0000"/>
                    </a:solidFill>
                  </a:rPr>
                  <a:t>CSI</a:t>
                </a:r>
                <a:r>
                  <a:rPr lang="zh-TW" altLang="en-US" dirty="0"/>
                  <a:t>，更新本地嵌入。</a:t>
                </a: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25B613A3-5224-3BED-8181-D00BC45C1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41" y="2958917"/>
                <a:ext cx="5161856" cy="646331"/>
              </a:xfrm>
              <a:prstGeom prst="rect">
                <a:avLst/>
              </a:prstGeom>
              <a:blipFill>
                <a:blip r:embed="rId4"/>
                <a:stretch>
                  <a:fillRect l="-945" t="-5660" r="-5431" b="-132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BE6FB24E-B892-78BE-27D2-9ACBAFCEF214}"/>
              </a:ext>
            </a:extLst>
          </p:cNvPr>
          <p:cNvSpPr/>
          <p:nvPr/>
        </p:nvSpPr>
        <p:spPr>
          <a:xfrm>
            <a:off x="6063316" y="2155166"/>
            <a:ext cx="5625297" cy="24831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68638D5-50C3-4F3A-C23F-6DF41A297C95}"/>
              </a:ext>
            </a:extLst>
          </p:cNvPr>
          <p:cNvSpPr txBox="1"/>
          <p:nvPr/>
        </p:nvSpPr>
        <p:spPr>
          <a:xfrm>
            <a:off x="6149162" y="2327496"/>
            <a:ext cx="52578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zh-TW" altLang="en-US" sz="2400" b="1" dirty="0"/>
              <a:t>輸出生成</a:t>
            </a:r>
            <a:r>
              <a:rPr lang="en-US" altLang="zh-TW" sz="2400" b="1" dirty="0"/>
              <a:t>(Output)</a:t>
            </a:r>
            <a:endParaRPr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9C57C2DE-AAA2-328B-4B0B-AEBAF5B05252}"/>
                  </a:ext>
                </a:extLst>
              </p:cNvPr>
              <p:cNvSpPr txBox="1"/>
              <p:nvPr/>
            </p:nvSpPr>
            <p:spPr>
              <a:xfrm>
                <a:off x="6361487" y="2958917"/>
                <a:ext cx="5045475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TW"/>
                </a:defPPr>
                <a:lvl1pPr marL="285750" indent="-285750">
                  <a:lnSpc>
                    <a:spcPct val="200000"/>
                  </a:lnSpc>
                  <a:buFont typeface="Wingdings"/>
                  <a:buChar char="Ø"/>
                  <a:defRPr>
                    <a:ea typeface="+mn-lt"/>
                    <a:cs typeface="+mn-lt"/>
                  </a:defRPr>
                </a:lvl1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zh-TW" altLang="en-US" dirty="0"/>
                  <a:t>在完成 </a:t>
                </a:r>
                <a14:m>
                  <m:oMath xmlns:m="http://schemas.openxmlformats.org/officeDocument/2006/math">
                    <m:r>
                      <a:rPr lang="zh-TW" alt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TW" altLang="en-US" b="1" dirty="0">
                    <a:solidFill>
                      <a:srgbClr val="FF0000"/>
                    </a:solidFill>
                  </a:rPr>
                  <a:t> 層</a:t>
                </a:r>
                <a:r>
                  <a:rPr lang="zh-TW" altLang="en-US" dirty="0"/>
                  <a:t>訊息傳遞後，節點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輸出最終的 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波束成形 </a:t>
                </a:r>
                <a:r>
                  <a:rPr lang="zh-TW" altLang="en-US" dirty="0"/>
                  <a:t>與 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功率控制向量</a:t>
                </a:r>
                <a:r>
                  <a:rPr lang="zh-TW" altLang="en-US" dirty="0"/>
                  <a:t>。</a:t>
                </a: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9C57C2DE-AAA2-328B-4B0B-AEBAF5B05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487" y="2958917"/>
                <a:ext cx="5045475" cy="646331"/>
              </a:xfrm>
              <a:prstGeom prst="rect">
                <a:avLst/>
              </a:prstGeom>
              <a:blipFill>
                <a:blip r:embed="rId5"/>
                <a:stretch>
                  <a:fillRect l="-1088" t="-5660" r="-605" b="-132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BA5CF23C-3A6E-9F91-865A-A6120C9C00C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05" b="26718"/>
          <a:stretch>
            <a:fillRect/>
          </a:stretch>
        </p:blipFill>
        <p:spPr>
          <a:xfrm>
            <a:off x="6970805" y="3678796"/>
            <a:ext cx="3614513" cy="88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6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7" grpId="0"/>
      <p:bldP spid="18" grpId="0"/>
      <p:bldP spid="23" grpId="0" animBg="1"/>
      <p:bldP spid="33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76438-AB11-4B47-3B3D-DEE28345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779504F-39AD-EBFA-3835-DAB271FBB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73E74F1-686A-CC3D-5AFF-141A9973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目前解決方案的局限性？</a:t>
            </a:r>
            <a:endParaRPr lang="zh-TW" b="1" dirty="0">
              <a:ea typeface="新細明體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F016BC8-B527-21B6-105A-6A80102B5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987212"/>
              </p:ext>
            </p:extLst>
          </p:nvPr>
        </p:nvGraphicFramePr>
        <p:xfrm>
          <a:off x="512324" y="1470849"/>
          <a:ext cx="11167351" cy="4271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696">
                  <a:extLst>
                    <a:ext uri="{9D8B030D-6E8A-4147-A177-3AD203B41FA5}">
                      <a16:colId xmlns:a16="http://schemas.microsoft.com/office/drawing/2014/main" val="3820409842"/>
                    </a:ext>
                  </a:extLst>
                </a:gridCol>
                <a:gridCol w="5019556">
                  <a:extLst>
                    <a:ext uri="{9D8B030D-6E8A-4147-A177-3AD203B41FA5}">
                      <a16:colId xmlns:a16="http://schemas.microsoft.com/office/drawing/2014/main" val="2510524597"/>
                    </a:ext>
                  </a:extLst>
                </a:gridCol>
                <a:gridCol w="4854099">
                  <a:extLst>
                    <a:ext uri="{9D8B030D-6E8A-4147-A177-3AD203B41FA5}">
                      <a16:colId xmlns:a16="http://schemas.microsoft.com/office/drawing/2014/main" val="3518225801"/>
                    </a:ext>
                  </a:extLst>
                </a:gridCol>
              </a:tblGrid>
              <a:tr h="8231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+mn-lt"/>
                          <a:ea typeface="+mn-lt"/>
                          <a:cs typeface="+mn-lt"/>
                        </a:rPr>
                        <a:t>方法</a:t>
                      </a:r>
                    </a:p>
                  </a:txBody>
                  <a:tcPr anchor="ctr">
                    <a:solidFill>
                      <a:srgbClr val="006DB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+mn-lt"/>
                          <a:ea typeface="+mn-lt"/>
                          <a:cs typeface="+mn-lt"/>
                        </a:rPr>
                        <a:t>貢獻</a:t>
                      </a:r>
                    </a:p>
                  </a:txBody>
                  <a:tcPr anchor="ctr">
                    <a:solidFill>
                      <a:srgbClr val="006DB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+mn-lt"/>
                          <a:ea typeface="+mn-lt"/>
                          <a:cs typeface="+mn-lt"/>
                        </a:rPr>
                        <a:t>侷限性</a:t>
                      </a:r>
                    </a:p>
                  </a:txBody>
                  <a:tcPr anchor="ctr">
                    <a:solidFill>
                      <a:srgbClr val="006D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33342"/>
                  </a:ext>
                </a:extLst>
              </a:tr>
              <a:tr h="14695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G4U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zh-TW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利用 </a:t>
                      </a:r>
                      <a:r>
                        <a:rPr lang="en-US" altLang="zh-TW" sz="1800" b="1" kern="1200" dirty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>OTA</a:t>
                      </a:r>
                      <a:r>
                        <a:rPr lang="zh-TW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>聚合</a:t>
                      </a:r>
                      <a:r>
                        <a:rPr lang="zh-TW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，降低訊號交換與計算負</a:t>
                      </a:r>
                      <a:endParaRPr lang="en-US" altLang="zh-TW" sz="1800" kern="12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zh-TW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單回合更新，符合</a:t>
                      </a:r>
                      <a:r>
                        <a:rPr lang="zh-TW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>低延遲需求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zh-TW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僅能進行 </a:t>
                      </a:r>
                      <a:r>
                        <a:rPr lang="zh-TW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>局部訊息傳遞</a:t>
                      </a:r>
                      <a:endParaRPr lang="en-US" altLang="zh-TW" sz="1800" kern="12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zh-TW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無法捕捉 </a:t>
                      </a:r>
                      <a:r>
                        <a:rPr lang="zh-TW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>長距依賴</a:t>
                      </a:r>
                      <a:r>
                        <a:rPr lang="zh-TW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，在複雜干擾環境下協調性不足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793749"/>
                  </a:ext>
                </a:extLst>
              </a:tr>
              <a:tr h="17896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PG4U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zh-TW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在 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G4U </a:t>
                      </a:r>
                      <a:r>
                        <a:rPr lang="zh-TW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基礎上加入 </a:t>
                      </a:r>
                      <a:r>
                        <a:rPr lang="zh-TW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>平行聚合</a:t>
                      </a:r>
                      <a:r>
                        <a:rPr lang="zh-TW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，提升 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Robustness</a:t>
                      </a:r>
                      <a:b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</a:br>
                      <a:r>
                        <a:rPr lang="zh-TW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更好利用通道的時間相關性，降低延遲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zh-TW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仍受限於 </a:t>
                      </a:r>
                      <a:r>
                        <a:rPr lang="zh-TW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>局部訊息傳遞</a:t>
                      </a:r>
                      <a:endParaRPr lang="en-US" altLang="zh-TW" sz="1800" kern="12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zh-TW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缺乏全域協調能力，難以應對大規模干擾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218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44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1C05-C0A6-6D10-6300-34A12A80D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A0A8EE3-BBBC-4A99-46E3-F0534ABA8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0F9649F-7D34-A643-8A14-90FAD088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Token 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建構與 </a:t>
            </a:r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Q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 </a:t>
            </a:r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/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 </a:t>
            </a:r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K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 </a:t>
            </a:r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/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 </a:t>
            </a:r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V 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投影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D8C0168-EECA-DFDA-C19F-DE598CD571B0}"/>
              </a:ext>
            </a:extLst>
          </p:cNvPr>
          <p:cNvSpPr txBox="1"/>
          <p:nvPr/>
        </p:nvSpPr>
        <p:spPr>
          <a:xfrm>
            <a:off x="838200" y="1570002"/>
            <a:ext cx="10241280" cy="880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zh-TW" altLang="en-US" dirty="0"/>
              <a:t>這一步是 </a:t>
            </a:r>
            <a:r>
              <a:rPr lang="en-US" altLang="zh-TW" dirty="0"/>
              <a:t>Transformer refinement </a:t>
            </a:r>
            <a:r>
              <a:rPr lang="zh-TW" altLang="en-US" dirty="0"/>
              <a:t>的起點，將「局部 </a:t>
            </a:r>
            <a:r>
              <a:rPr lang="en-US" altLang="zh-TW" dirty="0"/>
              <a:t>embedding + </a:t>
            </a:r>
            <a:r>
              <a:rPr lang="zh-TW" altLang="en-US" dirty="0"/>
              <a:t>拓樸資訊」轉換成可做全域注意力的 </a:t>
            </a:r>
            <a:r>
              <a:rPr lang="en-US" altLang="zh-TW" dirty="0"/>
              <a:t>Q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K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V </a:t>
            </a:r>
            <a:r>
              <a:rPr lang="zh-TW" altLang="en-US" dirty="0"/>
              <a:t>表示，</a:t>
            </a:r>
            <a:r>
              <a:rPr lang="zh-TW" altLang="en-US" b="1" dirty="0">
                <a:solidFill>
                  <a:srgbClr val="FF0000"/>
                </a:solidFill>
              </a:rPr>
              <a:t>提升干擾建模能力</a:t>
            </a:r>
            <a:r>
              <a:rPr lang="zh-TW" altLang="en-US" dirty="0"/>
              <a:t>。</a:t>
            </a:r>
          </a:p>
        </p:txBody>
      </p:sp>
      <p:pic>
        <p:nvPicPr>
          <p:cNvPr id="3" name="圖片 2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F4A36D0B-D5C2-05F0-4C81-5248FD95CF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288" y="3335158"/>
            <a:ext cx="3811177" cy="214378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A99C6C1-1646-D481-846C-0CAD748E501E}"/>
              </a:ext>
            </a:extLst>
          </p:cNvPr>
          <p:cNvSpPr>
            <a:spLocks/>
          </p:cNvSpPr>
          <p:nvPr/>
        </p:nvSpPr>
        <p:spPr>
          <a:xfrm>
            <a:off x="3717875" y="3209000"/>
            <a:ext cx="745317" cy="558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FD11B7A-1CC0-F207-71A7-B7652068E7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2147" y="2740782"/>
                <a:ext cx="4136115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TW"/>
                </a:defPPr>
                <a:lvl1pPr indent="0">
                  <a:lnSpc>
                    <a:spcPct val="100000"/>
                  </a:lnSpc>
                  <a:buFont typeface="Wingdings"/>
                  <a:buNone/>
                  <a:defRPr>
                    <a:ea typeface="+mn-lt"/>
                    <a:cs typeface="+mn-lt"/>
                  </a:defRPr>
                </a:lvl1pPr>
              </a:lstStyle>
              <a:p>
                <a:r>
                  <a:rPr lang="zh-TW" altLang="en-US" dirty="0"/>
                  <a:t>節點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TW" altLang="en-US" dirty="0"/>
                  <a:t>在 </a:t>
                </a:r>
                <a:r>
                  <a:rPr lang="en-US" altLang="zh-TW" dirty="0"/>
                  <a:t>frame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TW" altLang="en-US" dirty="0"/>
                  <a:t>的更新後 </a:t>
                </a:r>
                <a:r>
                  <a:rPr lang="en-US" altLang="zh-TW" dirty="0"/>
                  <a:t>embedding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FD11B7A-1CC0-F207-71A7-B7652068E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147" y="2740782"/>
                <a:ext cx="4136115" cy="369332"/>
              </a:xfrm>
              <a:prstGeom prst="rect">
                <a:avLst/>
              </a:prstGeom>
              <a:blipFill>
                <a:blip r:embed="rId5"/>
                <a:stretch>
                  <a:fillRect l="-1327" t="-11667" b="-2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9D0E4674-0CFE-0FE4-9B60-27D543B7C02D}"/>
              </a:ext>
            </a:extLst>
          </p:cNvPr>
          <p:cNvCxnSpPr>
            <a:cxnSpLocks/>
            <a:stCxn id="5" idx="0"/>
            <a:endCxn id="6" idx="1"/>
          </p:cNvCxnSpPr>
          <p:nvPr/>
        </p:nvCxnSpPr>
        <p:spPr>
          <a:xfrm rot="5400000" flipH="1" flipV="1">
            <a:off x="4474564" y="2541418"/>
            <a:ext cx="283552" cy="1051613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6770E4F-424E-695D-ACE5-47F251E1DC2F}"/>
              </a:ext>
            </a:extLst>
          </p:cNvPr>
          <p:cNvSpPr>
            <a:spLocks/>
          </p:cNvSpPr>
          <p:nvPr/>
        </p:nvSpPr>
        <p:spPr>
          <a:xfrm>
            <a:off x="4769488" y="3287973"/>
            <a:ext cx="596531" cy="5154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CDBF221-CBC6-1F7C-BF47-19B5FF18DFCF}"/>
              </a:ext>
            </a:extLst>
          </p:cNvPr>
          <p:cNvSpPr txBox="1">
            <a:spLocks/>
          </p:cNvSpPr>
          <p:nvPr/>
        </p:nvSpPr>
        <p:spPr>
          <a:xfrm>
            <a:off x="5900105" y="3359847"/>
            <a:ext cx="41361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r>
              <a:rPr lang="zh-TW" altLang="en-US" dirty="0"/>
              <a:t>位置編碼，包含拓樸資訊</a:t>
            </a:r>
          </a:p>
        </p:txBody>
      </p: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461CA1F5-DB25-C81D-6D1D-C42B023B1425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366019" y="3544513"/>
            <a:ext cx="534086" cy="116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E8E6068-A7F8-8479-9C95-AB99DFBABD40}"/>
              </a:ext>
            </a:extLst>
          </p:cNvPr>
          <p:cNvSpPr txBox="1">
            <a:spLocks/>
          </p:cNvSpPr>
          <p:nvPr/>
        </p:nvSpPr>
        <p:spPr>
          <a:xfrm>
            <a:off x="6583947" y="4268866"/>
            <a:ext cx="3452273" cy="880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pPr>
              <a:lnSpc>
                <a:spcPct val="150000"/>
              </a:lnSpc>
            </a:pPr>
            <a:r>
              <a:rPr lang="zh-TW" altLang="en-US" b="1" dirty="0"/>
              <a:t>投影矩陣，把 </a:t>
            </a:r>
            <a:r>
              <a:rPr lang="en-US" altLang="zh-TW" b="1" dirty="0"/>
              <a:t>token </a:t>
            </a:r>
            <a:r>
              <a:rPr lang="zh-TW" altLang="en-US" b="1" dirty="0"/>
              <a:t>投影到 </a:t>
            </a:r>
            <a:r>
              <a:rPr lang="en-US" altLang="zh-TW" b="1" dirty="0"/>
              <a:t>query</a:t>
            </a:r>
            <a:r>
              <a:rPr lang="zh-TW" altLang="en-US" b="1" dirty="0"/>
              <a:t>、</a:t>
            </a:r>
            <a:r>
              <a:rPr lang="en-US" altLang="zh-TW" b="1" dirty="0"/>
              <a:t>key</a:t>
            </a:r>
            <a:r>
              <a:rPr lang="zh-TW" altLang="en-US" b="1" dirty="0"/>
              <a:t>、</a:t>
            </a:r>
            <a:r>
              <a:rPr lang="en-US" altLang="zh-TW" b="1" dirty="0"/>
              <a:t>value </a:t>
            </a:r>
            <a:r>
              <a:rPr lang="zh-TW" altLang="en-US" b="1" dirty="0"/>
              <a:t>空間。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D43EAA-25F9-259C-4887-0B6C60E88EE0}"/>
              </a:ext>
            </a:extLst>
          </p:cNvPr>
          <p:cNvSpPr>
            <a:spLocks/>
          </p:cNvSpPr>
          <p:nvPr/>
        </p:nvSpPr>
        <p:spPr>
          <a:xfrm>
            <a:off x="4550518" y="3803376"/>
            <a:ext cx="815501" cy="1780565"/>
          </a:xfrm>
          <a:prstGeom prst="rect">
            <a:avLst/>
          </a:prstGeom>
          <a:noFill/>
          <a:ln w="28575">
            <a:solidFill>
              <a:srgbClr val="00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DAA2F644-3A79-8943-AA30-24C9EC6EEC60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>
            <a:off x="5366019" y="4693659"/>
            <a:ext cx="1217928" cy="15681"/>
          </a:xfrm>
          <a:prstGeom prst="bentConnector3">
            <a:avLst>
              <a:gd name="adj1" fmla="val 50000"/>
            </a:avLst>
          </a:prstGeom>
          <a:ln w="28575">
            <a:solidFill>
              <a:srgbClr val="0073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13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7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4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0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" grpId="0" animBg="1"/>
      <p:bldP spid="5" grpId="1" animBg="1"/>
      <p:bldP spid="6" grpId="0"/>
      <p:bldP spid="6" grpId="1"/>
      <p:bldP spid="14" grpId="0" animBg="1"/>
      <p:bldP spid="14" grpId="1" animBg="1"/>
      <p:bldP spid="15" grpId="0"/>
      <p:bldP spid="15" grpId="1"/>
      <p:bldP spid="25" grpId="0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2A8AF-D427-AB6A-EF54-03CEFC5A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B9DA67-2B56-FC79-07D3-4B75901C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OTA 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聚合全域統計</a:t>
            </a:r>
          </a:p>
        </p:txBody>
      </p:sp>
      <p:pic>
        <p:nvPicPr>
          <p:cNvPr id="3" name="圖片 2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8D8BDF94-694C-1B8C-2F06-698496972A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40" b="15610"/>
          <a:stretch>
            <a:fillRect/>
          </a:stretch>
        </p:blipFill>
        <p:spPr>
          <a:xfrm>
            <a:off x="3154680" y="2491191"/>
            <a:ext cx="4023360" cy="1524235"/>
          </a:xfrm>
          <a:prstGeom prst="rect">
            <a:avLst/>
          </a:prstGeom>
        </p:spPr>
      </p:pic>
      <p:pic>
        <p:nvPicPr>
          <p:cNvPr id="4" name="圖片 3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741D5B69-0CA7-1A27-F678-6E1680E66F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07" b="25330"/>
          <a:stretch>
            <a:fillRect/>
          </a:stretch>
        </p:blipFill>
        <p:spPr>
          <a:xfrm>
            <a:off x="2665828" y="4559566"/>
            <a:ext cx="6341012" cy="167150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94E36BC-3398-A183-DA6B-0CD70DC0C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90EAE9D-3F91-11D3-1EFD-326832856B4A}"/>
              </a:ext>
            </a:extLst>
          </p:cNvPr>
          <p:cNvSpPr txBox="1"/>
          <p:nvPr/>
        </p:nvSpPr>
        <p:spPr>
          <a:xfrm>
            <a:off x="1013045" y="1620589"/>
            <a:ext cx="9647239" cy="5069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5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r>
              <a:rPr lang="zh-TW" altLang="en-US" sz="2000" b="1" dirty="0"/>
              <a:t>保留了全域注意力的效果，但不需要額外的訊號交換，符合 </a:t>
            </a:r>
            <a:r>
              <a:rPr lang="en-US" altLang="zh-TW" sz="2000" b="1" dirty="0" err="1"/>
              <a:t>mURLLC</a:t>
            </a:r>
            <a:r>
              <a:rPr lang="en-US" altLang="zh-TW" sz="2000" b="1" dirty="0"/>
              <a:t> </a:t>
            </a:r>
            <a:r>
              <a:rPr lang="zh-TW" altLang="en-US" sz="2000" b="1" dirty="0"/>
              <a:t>的低延遲需求。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463EA7A-2DF4-35B7-C4A7-1A65BC82EC8A}"/>
              </a:ext>
            </a:extLst>
          </p:cNvPr>
          <p:cNvSpPr txBox="1">
            <a:spLocks/>
          </p:cNvSpPr>
          <p:nvPr/>
        </p:nvSpPr>
        <p:spPr>
          <a:xfrm>
            <a:off x="7800035" y="3762794"/>
            <a:ext cx="3452273" cy="880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TW" dirty="0"/>
              <a:t>kernel </a:t>
            </a:r>
            <a:r>
              <a:rPr lang="zh-TW" altLang="en-US" dirty="0"/>
              <a:t>特徵映射，用來把 </a:t>
            </a:r>
            <a:r>
              <a:rPr lang="en-US" altLang="zh-TW" dirty="0" err="1"/>
              <a:t>softmax</a:t>
            </a:r>
            <a:r>
              <a:rPr lang="en-US" altLang="zh-TW" dirty="0"/>
              <a:t> </a:t>
            </a:r>
            <a:r>
              <a:rPr lang="zh-TW" altLang="en-US" dirty="0"/>
              <a:t>注意力近似成線性形式</a:t>
            </a:r>
            <a:endParaRPr lang="zh-TW" altLang="en-US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DE4369-BE9A-B370-F3FF-B4F303AC5C51}"/>
              </a:ext>
            </a:extLst>
          </p:cNvPr>
          <p:cNvSpPr>
            <a:spLocks/>
          </p:cNvSpPr>
          <p:nvPr/>
        </p:nvSpPr>
        <p:spPr>
          <a:xfrm>
            <a:off x="5440681" y="2791893"/>
            <a:ext cx="1920240" cy="880947"/>
          </a:xfrm>
          <a:prstGeom prst="rect">
            <a:avLst/>
          </a:prstGeom>
          <a:noFill/>
          <a:ln w="28575">
            <a:solidFill>
              <a:srgbClr val="00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D674205E-BEE5-FD74-275E-33D0CC39C9B7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7360921" y="3232367"/>
            <a:ext cx="439114" cy="970901"/>
          </a:xfrm>
          <a:prstGeom prst="bentConnector3">
            <a:avLst>
              <a:gd name="adj1" fmla="val 50000"/>
            </a:avLst>
          </a:prstGeom>
          <a:ln w="28575">
            <a:solidFill>
              <a:srgbClr val="0073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C9AAA8A-9F2C-0B39-0CA6-37A622CB7BFF}"/>
              </a:ext>
            </a:extLst>
          </p:cNvPr>
          <p:cNvSpPr>
            <a:spLocks/>
          </p:cNvSpPr>
          <p:nvPr/>
        </p:nvSpPr>
        <p:spPr>
          <a:xfrm>
            <a:off x="5440681" y="4878646"/>
            <a:ext cx="1920240" cy="880947"/>
          </a:xfrm>
          <a:prstGeom prst="rect">
            <a:avLst/>
          </a:prstGeom>
          <a:noFill/>
          <a:ln w="28575">
            <a:solidFill>
              <a:srgbClr val="00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C182C22A-79EA-801C-D801-BA00DEDDA4ED}"/>
              </a:ext>
            </a:extLst>
          </p:cNvPr>
          <p:cNvCxnSpPr>
            <a:cxnSpLocks/>
            <a:stCxn id="16" idx="0"/>
            <a:endCxn id="8" idx="1"/>
          </p:cNvCxnSpPr>
          <p:nvPr/>
        </p:nvCxnSpPr>
        <p:spPr>
          <a:xfrm rot="5400000" flipH="1" flipV="1">
            <a:off x="6762729" y="3841340"/>
            <a:ext cx="675378" cy="1399234"/>
          </a:xfrm>
          <a:prstGeom prst="bentConnector2">
            <a:avLst/>
          </a:prstGeom>
          <a:ln w="28575">
            <a:solidFill>
              <a:srgbClr val="0073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A882C8B9-72D6-7685-E4A1-251445DEBD5E}"/>
              </a:ext>
            </a:extLst>
          </p:cNvPr>
          <p:cNvSpPr>
            <a:spLocks/>
          </p:cNvSpPr>
          <p:nvPr/>
        </p:nvSpPr>
        <p:spPr>
          <a:xfrm>
            <a:off x="3154679" y="2812455"/>
            <a:ext cx="988837" cy="880947"/>
          </a:xfrm>
          <a:prstGeom prst="rect">
            <a:avLst/>
          </a:prstGeom>
          <a:noFill/>
          <a:ln w="28575">
            <a:solidFill>
              <a:srgbClr val="00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CDCF885-937C-E4A1-5CEA-92DD61334F88}"/>
              </a:ext>
            </a:extLst>
          </p:cNvPr>
          <p:cNvSpPr>
            <a:spLocks/>
          </p:cNvSpPr>
          <p:nvPr/>
        </p:nvSpPr>
        <p:spPr>
          <a:xfrm>
            <a:off x="2569999" y="4812198"/>
            <a:ext cx="1573517" cy="880947"/>
          </a:xfrm>
          <a:prstGeom prst="rect">
            <a:avLst/>
          </a:prstGeom>
          <a:noFill/>
          <a:ln w="28575">
            <a:solidFill>
              <a:srgbClr val="00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37800CEE-E6B9-A522-3482-62CC04C10E7F}"/>
              </a:ext>
            </a:extLst>
          </p:cNvPr>
          <p:cNvCxnSpPr>
            <a:cxnSpLocks/>
            <a:stCxn id="26" idx="1"/>
            <a:endCxn id="30" idx="0"/>
          </p:cNvCxnSpPr>
          <p:nvPr/>
        </p:nvCxnSpPr>
        <p:spPr>
          <a:xfrm rot="10800000">
            <a:off x="1354595" y="3228401"/>
            <a:ext cx="1800084" cy="24529"/>
          </a:xfrm>
          <a:prstGeom prst="bentConnector4">
            <a:avLst>
              <a:gd name="adj1" fmla="val 18724"/>
              <a:gd name="adj2" fmla="val 1031958"/>
            </a:avLst>
          </a:prstGeom>
          <a:ln w="28575">
            <a:solidFill>
              <a:srgbClr val="0073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24BDA78-DBCF-518E-1272-6DE185E69AEE}"/>
              </a:ext>
            </a:extLst>
          </p:cNvPr>
          <p:cNvSpPr txBox="1">
            <a:spLocks/>
          </p:cNvSpPr>
          <p:nvPr/>
        </p:nvSpPr>
        <p:spPr>
          <a:xfrm>
            <a:off x="228600" y="3228400"/>
            <a:ext cx="2251990" cy="17119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>
                <a:ea typeface="+mn-lt"/>
                <a:cs typeface="+mn-lt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TW" altLang="en-US" dirty="0"/>
              <a:t>全域統計量，透過一次 </a:t>
            </a:r>
            <a:r>
              <a:rPr lang="en-US" altLang="zh-TW" dirty="0"/>
              <a:t>OTA </a:t>
            </a:r>
            <a:r>
              <a:rPr lang="zh-TW" altLang="en-US" dirty="0"/>
              <a:t>廣播就能聚合所有節點的 </a:t>
            </a:r>
            <a:r>
              <a:rPr lang="en-US" altLang="zh-TW" dirty="0"/>
              <a:t>query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key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value </a:t>
            </a:r>
            <a:r>
              <a:rPr lang="zh-TW" altLang="en-US" dirty="0"/>
              <a:t>特徵。</a:t>
            </a:r>
            <a:endParaRPr lang="zh-TW" altLang="en-US" b="1" dirty="0"/>
          </a:p>
        </p:txBody>
      </p: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6CBD5DF1-B11A-9AC4-2895-BDD9B476200B}"/>
              </a:ext>
            </a:extLst>
          </p:cNvPr>
          <p:cNvCxnSpPr>
            <a:cxnSpLocks/>
            <a:stCxn id="27" idx="0"/>
            <a:endCxn id="30" idx="3"/>
          </p:cNvCxnSpPr>
          <p:nvPr/>
        </p:nvCxnSpPr>
        <p:spPr>
          <a:xfrm rot="16200000" flipV="1">
            <a:off x="2554761" y="4010201"/>
            <a:ext cx="727826" cy="876168"/>
          </a:xfrm>
          <a:prstGeom prst="bentConnector2">
            <a:avLst/>
          </a:prstGeom>
          <a:ln w="28575">
            <a:solidFill>
              <a:srgbClr val="0073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00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6" grpId="0" animBg="1"/>
      <p:bldP spid="26" grpId="0" animBg="1"/>
      <p:bldP spid="27" grpId="0" animBg="1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FC8B6-178B-C180-FF1F-6A2B2743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3D334B-6816-7775-3F39-42CF30BA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Transformer </a:t>
            </a:r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精煉堪入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14126B8-D965-B4BE-95FE-A4E81CCA3C63}"/>
              </a:ext>
            </a:extLst>
          </p:cNvPr>
          <p:cNvSpPr txBox="1"/>
          <p:nvPr/>
        </p:nvSpPr>
        <p:spPr>
          <a:xfrm>
            <a:off x="838200" y="1690688"/>
            <a:ext cx="102412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zh-TW" altLang="en-US" sz="2400" b="1" dirty="0"/>
              <a:t>局部重建注意力輸出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43FA15B-90F9-31C9-2184-CDD9E714C361}"/>
              </a:ext>
            </a:extLst>
          </p:cNvPr>
          <p:cNvSpPr txBox="1"/>
          <p:nvPr/>
        </p:nvSpPr>
        <p:spPr>
          <a:xfrm>
            <a:off x="1112520" y="2322301"/>
            <a:ext cx="102412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dirty="0"/>
              <a:t>每個節點用自己的 </a:t>
            </a:r>
            <a:r>
              <a:rPr lang="en-US" altLang="zh-TW" dirty="0"/>
              <a:t>Query </a:t>
            </a:r>
            <a:r>
              <a:rPr lang="zh-TW" altLang="en-US" dirty="0"/>
              <a:t>與全域統計重建注意力輸出，並進行殘差與投影。</a:t>
            </a:r>
          </a:p>
        </p:txBody>
      </p:sp>
      <p:pic>
        <p:nvPicPr>
          <p:cNvPr id="3" name="圖片 2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4F2AF9FB-8A58-BA16-944A-B85F221683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21" b="41250"/>
          <a:stretch>
            <a:fillRect/>
          </a:stretch>
        </p:blipFill>
        <p:spPr>
          <a:xfrm>
            <a:off x="1112520" y="5247896"/>
            <a:ext cx="10241280" cy="1113473"/>
          </a:xfrm>
          <a:prstGeom prst="rect">
            <a:avLst/>
          </a:prstGeom>
        </p:spPr>
      </p:pic>
      <p:pic>
        <p:nvPicPr>
          <p:cNvPr id="4" name="圖片 3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7937FC4C-D420-3BF4-1D30-6176E00E51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7" b="16305"/>
          <a:stretch>
            <a:fillRect/>
          </a:stretch>
        </p:blipFill>
        <p:spPr>
          <a:xfrm>
            <a:off x="1112520" y="2818437"/>
            <a:ext cx="6359769" cy="229804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B221678-D981-F26A-5932-E5B90C8D6C9C}"/>
              </a:ext>
            </a:extLst>
          </p:cNvPr>
          <p:cNvSpPr txBox="1"/>
          <p:nvPr/>
        </p:nvSpPr>
        <p:spPr>
          <a:xfrm>
            <a:off x="7703805" y="4786231"/>
            <a:ext cx="182490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 sz="2400">
                <a:ea typeface="+mn-lt"/>
                <a:cs typeface="+mn-lt"/>
              </a:defRPr>
            </a:lvl1pPr>
          </a:lstStyle>
          <a:p>
            <a:r>
              <a:rPr lang="zh-TW" altLang="en-US" b="1" dirty="0">
                <a:solidFill>
                  <a:srgbClr val="FF0000"/>
                </a:solidFill>
              </a:rPr>
              <a:t>殘差正規化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B9E0D2F-CF5B-C53F-C589-26457EC3E5DF}"/>
              </a:ext>
            </a:extLst>
          </p:cNvPr>
          <p:cNvSpPr txBox="1"/>
          <p:nvPr/>
        </p:nvSpPr>
        <p:spPr>
          <a:xfrm>
            <a:off x="7703805" y="3738932"/>
            <a:ext cx="20694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 sz="2400">
                <a:ea typeface="+mn-lt"/>
                <a:cs typeface="+mn-lt"/>
              </a:defRPr>
            </a:lvl1pPr>
          </a:lstStyle>
          <a:p>
            <a:r>
              <a:rPr lang="zh-TW" altLang="en-US" b="1" dirty="0">
                <a:solidFill>
                  <a:srgbClr val="FF0000"/>
                </a:solidFill>
              </a:rPr>
              <a:t>注意力輸出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D9A8AE6-36B9-29D1-A305-03C5EB7CD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1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6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2FF5D-371A-CB2E-BD3A-74EA69E43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3F7B947-8487-5B60-6EE8-0991B7D2C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F69FD1A-6BFF-013C-6330-413F34F7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6DBB"/>
                </a:solidFill>
                <a:ea typeface="+mj-lt"/>
                <a:cs typeface="+mj-lt"/>
              </a:rPr>
              <a:t>QoS Outage Probability</a:t>
            </a:r>
            <a:endParaRPr lang="zh-TW" altLang="en-US" dirty="0">
              <a:solidFill>
                <a:srgbClr val="006DBB"/>
              </a:solidFill>
              <a:ea typeface="+mj-lt"/>
              <a:cs typeface="+mj-lt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BDE2434-216B-372D-49FD-AB8FD4D77FD0}"/>
              </a:ext>
            </a:extLst>
          </p:cNvPr>
          <p:cNvSpPr txBox="1"/>
          <p:nvPr/>
        </p:nvSpPr>
        <p:spPr>
          <a:xfrm>
            <a:off x="838200" y="1690688"/>
            <a:ext cx="102412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zh-TW" altLang="en-US" sz="2400" b="1" dirty="0"/>
              <a:t>定義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C424310-49F0-F9F1-1A5D-5D9B30D9C995}"/>
              </a:ext>
            </a:extLst>
          </p:cNvPr>
          <p:cNvSpPr txBox="1"/>
          <p:nvPr/>
        </p:nvSpPr>
        <p:spPr>
          <a:xfrm>
            <a:off x="1112520" y="2322301"/>
            <a:ext cx="8992179" cy="880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QoS Outage Probability </a:t>
            </a:r>
            <a:r>
              <a:rPr lang="zh-TW" altLang="en-US" dirty="0"/>
              <a:t>定義為系統效能指標（例如最差鏈路 </a:t>
            </a:r>
            <a:r>
              <a:rPr lang="en-US" altLang="zh-TW" dirty="0"/>
              <a:t>BLER </a:t>
            </a:r>
            <a:r>
              <a:rPr lang="zh-TW" altLang="en-US" dirty="0"/>
              <a:t>或 </a:t>
            </a:r>
            <a:r>
              <a:rPr lang="en-US" altLang="zh-TW" dirty="0"/>
              <a:t>log-based utility</a:t>
            </a:r>
            <a:r>
              <a:rPr lang="zh-TW" altLang="en-US" dirty="0"/>
              <a:t>）</a:t>
            </a:r>
            <a:r>
              <a:rPr lang="zh-TW" altLang="en-US" b="1" dirty="0">
                <a:solidFill>
                  <a:srgbClr val="FF0000"/>
                </a:solidFill>
              </a:rPr>
              <a:t>超過門檻的機率</a:t>
            </a:r>
            <a:r>
              <a:rPr lang="zh-TW" altLang="en-US" b="1" dirty="0"/>
              <a:t>。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2E5456A-86D2-4842-AF02-65462D2B0FD2}"/>
              </a:ext>
            </a:extLst>
          </p:cNvPr>
          <p:cNvSpPr txBox="1"/>
          <p:nvPr/>
        </p:nvSpPr>
        <p:spPr>
          <a:xfrm>
            <a:off x="975360" y="4023108"/>
            <a:ext cx="102412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zh-TW" altLang="en-US" sz="2400" b="1" dirty="0"/>
              <a:t>意義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F0D1897-BE3F-126D-3D2E-A76FE3781D37}"/>
              </a:ext>
            </a:extLst>
          </p:cNvPr>
          <p:cNvSpPr txBox="1"/>
          <p:nvPr/>
        </p:nvSpPr>
        <p:spPr>
          <a:xfrm>
            <a:off x="1249680" y="4654721"/>
            <a:ext cx="8992179" cy="4654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>
                <a:ea typeface="+mn-lt"/>
                <a:cs typeface="+mn-lt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zh-TW" altLang="en-US" dirty="0"/>
              <a:t>衡量系統在隨機通道與網路拓樸下，</a:t>
            </a:r>
            <a:r>
              <a:rPr lang="zh-TW" altLang="en-US" b="1" dirty="0">
                <a:solidFill>
                  <a:srgbClr val="FF0000"/>
                </a:solidFill>
              </a:rPr>
              <a:t>有多少比例的情況會違反 </a:t>
            </a:r>
            <a:r>
              <a:rPr lang="en-US" altLang="zh-TW" b="1" dirty="0" err="1">
                <a:solidFill>
                  <a:srgbClr val="FF0000"/>
                </a:solidFill>
              </a:rPr>
              <a:t>mURLLC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  <a:r>
              <a:rPr lang="zh-TW" altLang="en-US" b="1" dirty="0">
                <a:solidFill>
                  <a:srgbClr val="FF0000"/>
                </a:solidFill>
              </a:rPr>
              <a:t>的可靠性需求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9550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1346B-5EEB-ADFD-BD13-8593338B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圖形 39">
            <a:extLst>
              <a:ext uri="{FF2B5EF4-FFF2-40B4-BE49-F238E27FC236}">
                <a16:creationId xmlns:a16="http://schemas.microsoft.com/office/drawing/2014/main" id="{637A3C87-0F02-7B1B-E494-9FF2AE9225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85" t="52460" r="6128" b="5068"/>
          <a:stretch>
            <a:fillRect/>
          </a:stretch>
        </p:blipFill>
        <p:spPr>
          <a:xfrm>
            <a:off x="987135" y="1600499"/>
            <a:ext cx="10217729" cy="436418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B376C15F-BF09-0E59-37A0-34B94D35A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A29E422-6D8C-B32B-3743-E93B6A66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6DBB"/>
                </a:solidFill>
                <a:ea typeface="+mj-lt"/>
                <a:cs typeface="+mj-lt"/>
              </a:rPr>
              <a:t>實驗結果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4310B9-6E8C-D7B7-3A66-E605A2C6AD3C}"/>
              </a:ext>
            </a:extLst>
          </p:cNvPr>
          <p:cNvSpPr/>
          <p:nvPr/>
        </p:nvSpPr>
        <p:spPr>
          <a:xfrm rot="5400000">
            <a:off x="5904231" y="734473"/>
            <a:ext cx="441380" cy="9832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53E5A5-4458-27DB-2D93-EA34D2EDE925}"/>
              </a:ext>
            </a:extLst>
          </p:cNvPr>
          <p:cNvSpPr/>
          <p:nvPr/>
        </p:nvSpPr>
        <p:spPr>
          <a:xfrm>
            <a:off x="797097" y="1742705"/>
            <a:ext cx="498946" cy="397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225F0731-58E5-C337-527F-4650C3D4613B}"/>
              </a:ext>
            </a:extLst>
          </p:cNvPr>
          <p:cNvGrpSpPr/>
          <p:nvPr/>
        </p:nvGrpSpPr>
        <p:grpSpPr>
          <a:xfrm>
            <a:off x="1211579" y="5424906"/>
            <a:ext cx="9992360" cy="410370"/>
            <a:chOff x="1150620" y="5432867"/>
            <a:chExt cx="9890760" cy="375988"/>
          </a:xfrm>
        </p:grpSpPr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615C8FC6-0921-B2CE-DE59-7768EADE136D}"/>
                </a:ext>
              </a:extLst>
            </p:cNvPr>
            <p:cNvSpPr txBox="1"/>
            <p:nvPr/>
          </p:nvSpPr>
          <p:spPr>
            <a:xfrm>
              <a:off x="2626019" y="5432867"/>
              <a:ext cx="531890" cy="3476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zh-TW" dirty="0">
                  <a:ea typeface="新細明體"/>
                </a:rPr>
                <a:t>50</a:t>
              </a:r>
              <a:endParaRPr lang="zh-TW" altLang="en-US" dirty="0"/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7E501684-6715-8D9E-B2C3-3FFB1228CF29}"/>
                </a:ext>
              </a:extLst>
            </p:cNvPr>
            <p:cNvSpPr txBox="1"/>
            <p:nvPr/>
          </p:nvSpPr>
          <p:spPr>
            <a:xfrm>
              <a:off x="4111476" y="5439523"/>
              <a:ext cx="612344" cy="3383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zh-TW" dirty="0">
                  <a:ea typeface="新細明體"/>
                </a:rPr>
                <a:t>100</a:t>
              </a:r>
              <a:endParaRPr lang="zh-TW" altLang="en-US" dirty="0"/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455E1374-8A09-7A63-EB7A-A9E192B4D3A5}"/>
                </a:ext>
              </a:extLst>
            </p:cNvPr>
            <p:cNvSpPr txBox="1"/>
            <p:nvPr/>
          </p:nvSpPr>
          <p:spPr>
            <a:xfrm>
              <a:off x="5717613" y="5436055"/>
              <a:ext cx="572117" cy="33838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zh-TW" dirty="0">
                  <a:ea typeface="新細明體"/>
                </a:rPr>
                <a:t>200</a:t>
              </a:r>
              <a:endParaRPr lang="zh-TW" altLang="en-US" dirty="0"/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1078B154-9FBB-8429-657F-696B29FAC47D}"/>
                </a:ext>
              </a:extLst>
            </p:cNvPr>
            <p:cNvSpPr txBox="1"/>
            <p:nvPr/>
          </p:nvSpPr>
          <p:spPr>
            <a:xfrm>
              <a:off x="7253352" y="5440584"/>
              <a:ext cx="602287" cy="3383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zh-TW" dirty="0">
                  <a:ea typeface="新細明體"/>
                </a:rPr>
                <a:t>300</a:t>
              </a:r>
              <a:endParaRPr lang="zh-TW" altLang="en-US" dirty="0"/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A5ADC466-6551-4A99-AC65-66F761B347D1}"/>
                </a:ext>
              </a:extLst>
            </p:cNvPr>
            <p:cNvSpPr txBox="1"/>
            <p:nvPr/>
          </p:nvSpPr>
          <p:spPr>
            <a:xfrm>
              <a:off x="8873183" y="5440584"/>
              <a:ext cx="642514" cy="33838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zh-TW" dirty="0">
                  <a:ea typeface="新細明體"/>
                </a:rPr>
                <a:t>400</a:t>
              </a:r>
              <a:endParaRPr lang="zh-TW" altLang="en-US" dirty="0"/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2089AEFC-8294-B0CC-DC03-88E31D47AC98}"/>
                </a:ext>
              </a:extLst>
            </p:cNvPr>
            <p:cNvSpPr txBox="1"/>
            <p:nvPr/>
          </p:nvSpPr>
          <p:spPr>
            <a:xfrm>
              <a:off x="10438369" y="5438882"/>
              <a:ext cx="603011" cy="33838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zh-TW" dirty="0">
                  <a:ea typeface="新細明體"/>
                </a:rPr>
                <a:t>500</a:t>
              </a:r>
              <a:endParaRPr lang="zh-TW" altLang="en-US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CD9F3053-A344-A400-A5F0-81CC9405656D}"/>
                </a:ext>
              </a:extLst>
            </p:cNvPr>
            <p:cNvSpPr txBox="1"/>
            <p:nvPr/>
          </p:nvSpPr>
          <p:spPr>
            <a:xfrm>
              <a:off x="1150620" y="5439523"/>
              <a:ext cx="44138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20</a:t>
              </a:r>
              <a:endParaRPr lang="zh-TW" altLang="en-US" dirty="0"/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0D3AD952-68AC-3D58-3B19-CFFBF526484B}"/>
              </a:ext>
            </a:extLst>
          </p:cNvPr>
          <p:cNvGrpSpPr/>
          <p:nvPr/>
        </p:nvGrpSpPr>
        <p:grpSpPr>
          <a:xfrm>
            <a:off x="501141" y="1742705"/>
            <a:ext cx="744489" cy="3884128"/>
            <a:chOff x="573862" y="1742705"/>
            <a:chExt cx="744489" cy="3884128"/>
          </a:xfrm>
        </p:grpSpPr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1045ED02-D443-0D65-3CFD-8DA4FB897B32}"/>
                </a:ext>
              </a:extLst>
            </p:cNvPr>
            <p:cNvSpPr txBox="1"/>
            <p:nvPr/>
          </p:nvSpPr>
          <p:spPr>
            <a:xfrm>
              <a:off x="819404" y="5257501"/>
              <a:ext cx="498947" cy="369332"/>
            </a:xfrm>
            <a:custGeom>
              <a:avLst/>
              <a:gdLst>
                <a:gd name="connsiteX0" fmla="*/ 0 w 511647"/>
                <a:gd name="connsiteY0" fmla="*/ 0 h 369332"/>
                <a:gd name="connsiteX1" fmla="*/ 511647 w 511647"/>
                <a:gd name="connsiteY1" fmla="*/ 0 h 369332"/>
                <a:gd name="connsiteX2" fmla="*/ 511647 w 511647"/>
                <a:gd name="connsiteY2" fmla="*/ 369332 h 369332"/>
                <a:gd name="connsiteX3" fmla="*/ 0 w 511647"/>
                <a:gd name="connsiteY3" fmla="*/ 369332 h 369332"/>
                <a:gd name="connsiteX4" fmla="*/ 0 w 511647"/>
                <a:gd name="connsiteY4" fmla="*/ 0 h 369332"/>
                <a:gd name="connsiteX0" fmla="*/ 0 w 511647"/>
                <a:gd name="connsiteY0" fmla="*/ 0 h 369332"/>
                <a:gd name="connsiteX1" fmla="*/ 511647 w 511647"/>
                <a:gd name="connsiteY1" fmla="*/ 0 h 369332"/>
                <a:gd name="connsiteX2" fmla="*/ 425287 w 511647"/>
                <a:gd name="connsiteY2" fmla="*/ 303292 h 369332"/>
                <a:gd name="connsiteX3" fmla="*/ 0 w 511647"/>
                <a:gd name="connsiteY3" fmla="*/ 369332 h 369332"/>
                <a:gd name="connsiteX4" fmla="*/ 0 w 511647"/>
                <a:gd name="connsiteY4" fmla="*/ 0 h 369332"/>
                <a:gd name="connsiteX0" fmla="*/ 0 w 511647"/>
                <a:gd name="connsiteY0" fmla="*/ 0 h 303292"/>
                <a:gd name="connsiteX1" fmla="*/ 511647 w 511647"/>
                <a:gd name="connsiteY1" fmla="*/ 0 h 303292"/>
                <a:gd name="connsiteX2" fmla="*/ 425287 w 511647"/>
                <a:gd name="connsiteY2" fmla="*/ 303292 h 303292"/>
                <a:gd name="connsiteX3" fmla="*/ 17780 w 511647"/>
                <a:gd name="connsiteY3" fmla="*/ 295672 h 303292"/>
                <a:gd name="connsiteX4" fmla="*/ 0 w 511647"/>
                <a:gd name="connsiteY4" fmla="*/ 0 h 303292"/>
                <a:gd name="connsiteX0" fmla="*/ 0 w 425287"/>
                <a:gd name="connsiteY0" fmla="*/ 2540 h 305832"/>
                <a:gd name="connsiteX1" fmla="*/ 425287 w 425287"/>
                <a:gd name="connsiteY1" fmla="*/ 0 h 305832"/>
                <a:gd name="connsiteX2" fmla="*/ 425287 w 425287"/>
                <a:gd name="connsiteY2" fmla="*/ 305832 h 305832"/>
                <a:gd name="connsiteX3" fmla="*/ 17780 w 425287"/>
                <a:gd name="connsiteY3" fmla="*/ 298212 h 305832"/>
                <a:gd name="connsiteX4" fmla="*/ 0 w 425287"/>
                <a:gd name="connsiteY4" fmla="*/ 2540 h 305832"/>
                <a:gd name="connsiteX0" fmla="*/ 0 w 498947"/>
                <a:gd name="connsiteY0" fmla="*/ 10160 h 313452"/>
                <a:gd name="connsiteX1" fmla="*/ 498947 w 498947"/>
                <a:gd name="connsiteY1" fmla="*/ 0 h 313452"/>
                <a:gd name="connsiteX2" fmla="*/ 425287 w 498947"/>
                <a:gd name="connsiteY2" fmla="*/ 313452 h 313452"/>
                <a:gd name="connsiteX3" fmla="*/ 17780 w 498947"/>
                <a:gd name="connsiteY3" fmla="*/ 305832 h 313452"/>
                <a:gd name="connsiteX4" fmla="*/ 0 w 498947"/>
                <a:gd name="connsiteY4" fmla="*/ 10160 h 31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8947" h="313452">
                  <a:moveTo>
                    <a:pt x="0" y="10160"/>
                  </a:moveTo>
                  <a:lnTo>
                    <a:pt x="498947" y="0"/>
                  </a:lnTo>
                  <a:lnTo>
                    <a:pt x="425287" y="313452"/>
                  </a:lnTo>
                  <a:lnTo>
                    <a:pt x="17780" y="305832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5DF7862F-5285-216F-A459-3F060E2D9553}"/>
                </a:ext>
              </a:extLst>
            </p:cNvPr>
            <p:cNvSpPr txBox="1"/>
            <p:nvPr/>
          </p:nvSpPr>
          <p:spPr>
            <a:xfrm>
              <a:off x="612064" y="4834933"/>
              <a:ext cx="67750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0.01</a:t>
              </a:r>
              <a:endParaRPr lang="zh-TW" altLang="en-US" dirty="0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C8ADBAC1-D2D3-B69B-2BDA-8229EC911378}"/>
                </a:ext>
              </a:extLst>
            </p:cNvPr>
            <p:cNvSpPr txBox="1"/>
            <p:nvPr/>
          </p:nvSpPr>
          <p:spPr>
            <a:xfrm>
              <a:off x="662479" y="4455148"/>
              <a:ext cx="62708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0.02</a:t>
              </a:r>
              <a:endParaRPr lang="zh-TW" altLang="en-US" dirty="0"/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6A721634-8D09-628C-BF0A-CFF5D090A77F}"/>
                </a:ext>
              </a:extLst>
            </p:cNvPr>
            <p:cNvSpPr txBox="1"/>
            <p:nvPr/>
          </p:nvSpPr>
          <p:spPr>
            <a:xfrm>
              <a:off x="612064" y="4032580"/>
              <a:ext cx="67750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0.03</a:t>
              </a:r>
              <a:endParaRPr lang="zh-TW" altLang="en-US" dirty="0"/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61971DAD-26C5-F52B-8192-BCED886F4873}"/>
                </a:ext>
              </a:extLst>
            </p:cNvPr>
            <p:cNvSpPr txBox="1"/>
            <p:nvPr/>
          </p:nvSpPr>
          <p:spPr>
            <a:xfrm>
              <a:off x="590347" y="3610012"/>
              <a:ext cx="69921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0.04</a:t>
              </a:r>
              <a:endParaRPr lang="zh-TW" altLang="en-US" dirty="0"/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728DB6FA-10FB-319F-CF1E-633FB156C31B}"/>
                </a:ext>
              </a:extLst>
            </p:cNvPr>
            <p:cNvSpPr txBox="1"/>
            <p:nvPr/>
          </p:nvSpPr>
          <p:spPr>
            <a:xfrm>
              <a:off x="662478" y="3223800"/>
              <a:ext cx="62708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0.05</a:t>
              </a:r>
              <a:endParaRPr lang="zh-TW" altLang="en-US" dirty="0"/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ED1250AA-2FB4-5766-D5C1-044D651E719C}"/>
                </a:ext>
              </a:extLst>
            </p:cNvPr>
            <p:cNvSpPr txBox="1"/>
            <p:nvPr/>
          </p:nvSpPr>
          <p:spPr>
            <a:xfrm>
              <a:off x="590345" y="2855378"/>
              <a:ext cx="69921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0.06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485C376E-2EA8-1F34-07DC-2A5A671C008D}"/>
                </a:ext>
              </a:extLst>
            </p:cNvPr>
            <p:cNvSpPr txBox="1"/>
            <p:nvPr/>
          </p:nvSpPr>
          <p:spPr>
            <a:xfrm>
              <a:off x="612064" y="2466755"/>
              <a:ext cx="67749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0.07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4C162F13-714D-8748-A07B-1923C378D15B}"/>
                </a:ext>
              </a:extLst>
            </p:cNvPr>
            <p:cNvSpPr txBox="1"/>
            <p:nvPr/>
          </p:nvSpPr>
          <p:spPr>
            <a:xfrm>
              <a:off x="573862" y="2070264"/>
              <a:ext cx="71570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0.08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25B64D3E-CD5F-724E-9234-370F21A2F98D}"/>
                </a:ext>
              </a:extLst>
            </p:cNvPr>
            <p:cNvSpPr txBox="1"/>
            <p:nvPr/>
          </p:nvSpPr>
          <p:spPr>
            <a:xfrm>
              <a:off x="596827" y="1742705"/>
              <a:ext cx="69921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0.09</a:t>
              </a:r>
              <a:endParaRPr lang="zh-TW" altLang="en-US" dirty="0"/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5ADCF209-1C21-119F-9C5D-D8EB6D1FB430}"/>
              </a:ext>
            </a:extLst>
          </p:cNvPr>
          <p:cNvSpPr txBox="1"/>
          <p:nvPr/>
        </p:nvSpPr>
        <p:spPr>
          <a:xfrm rot="16200000">
            <a:off x="-565673" y="3118368"/>
            <a:ext cx="19019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100000"/>
              </a:lnSpc>
              <a:buFont typeface="Wingdings"/>
              <a:buChar char="Ø"/>
              <a:defRPr sz="2400" b="1">
                <a:ea typeface="+mn-lt"/>
                <a:cs typeface="+mn-lt"/>
              </a:defRPr>
            </a:lvl1pPr>
          </a:lstStyle>
          <a:p>
            <a:pPr marL="0" indent="0" algn="ctr">
              <a:buNone/>
            </a:pPr>
            <a:r>
              <a:rPr lang="en-US" altLang="zh-TW" sz="1800" b="0" dirty="0"/>
              <a:t>QoS</a:t>
            </a:r>
            <a:r>
              <a:rPr lang="zh-TW" altLang="en-US" sz="1800" b="0" dirty="0"/>
              <a:t>函數</a:t>
            </a:r>
            <a:r>
              <a:rPr lang="en-US" altLang="zh-TW" sz="1800" b="0" dirty="0"/>
              <a:t>(</a:t>
            </a:r>
            <a:r>
              <a:rPr lang="zh-TW" altLang="en-US" sz="1800" b="0" dirty="0"/>
              <a:t>百分比</a:t>
            </a:r>
            <a:r>
              <a:rPr lang="en-US" altLang="zh-TW" sz="1800" b="0" dirty="0"/>
              <a:t>)</a:t>
            </a:r>
            <a:endParaRPr lang="zh-TW" altLang="en-US" sz="1800" b="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2FB8911-DB1E-12F5-7D6D-EFDCE898FAA0}"/>
              </a:ext>
            </a:extLst>
          </p:cNvPr>
          <p:cNvSpPr txBox="1"/>
          <p:nvPr/>
        </p:nvSpPr>
        <p:spPr>
          <a:xfrm>
            <a:off x="5405393" y="5902104"/>
            <a:ext cx="1327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Epochs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D5960-524B-5F16-7112-104CBBA32ED5}"/>
              </a:ext>
            </a:extLst>
          </p:cNvPr>
          <p:cNvSpPr txBox="1"/>
          <p:nvPr/>
        </p:nvSpPr>
        <p:spPr>
          <a:xfrm>
            <a:off x="10596965" y="4069363"/>
            <a:ext cx="1327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0.028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0A1D042-B089-5A54-880B-EF05EC9AC96D}"/>
              </a:ext>
            </a:extLst>
          </p:cNvPr>
          <p:cNvSpPr txBox="1"/>
          <p:nvPr/>
        </p:nvSpPr>
        <p:spPr>
          <a:xfrm>
            <a:off x="10596965" y="4421719"/>
            <a:ext cx="1327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0.021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1914B84-B504-6750-7BCD-BA24760E84E4}"/>
              </a:ext>
            </a:extLst>
          </p:cNvPr>
          <p:cNvSpPr txBox="1"/>
          <p:nvPr/>
        </p:nvSpPr>
        <p:spPr>
          <a:xfrm>
            <a:off x="10596965" y="4762677"/>
            <a:ext cx="1327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0.010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C42F48A-898E-533D-45CE-6712FA0D86CA}"/>
              </a:ext>
            </a:extLst>
          </p:cNvPr>
          <p:cNvSpPr txBox="1"/>
          <p:nvPr/>
        </p:nvSpPr>
        <p:spPr>
          <a:xfrm>
            <a:off x="2216211" y="1532031"/>
            <a:ext cx="6795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indent="0">
              <a:lnSpc>
                <a:spcPct val="100000"/>
              </a:lnSpc>
              <a:buFont typeface="Wingdings"/>
              <a:buNone/>
              <a:defRPr b="0">
                <a:ea typeface="+mn-lt"/>
                <a:cs typeface="+mn-lt"/>
              </a:defRPr>
            </a:lvl1pPr>
          </a:lstStyle>
          <a:p>
            <a:pPr algn="ctr"/>
            <a:r>
              <a:rPr lang="zh-TW" altLang="en-US" sz="2400" dirty="0"/>
              <a:t>網路有 </a:t>
            </a:r>
            <a:r>
              <a:rPr lang="en-US" altLang="zh-TW" sz="2400" b="1" dirty="0">
                <a:solidFill>
                  <a:srgbClr val="FF0000"/>
                </a:solidFill>
              </a:rPr>
              <a:t>20 </a:t>
            </a:r>
            <a:r>
              <a:rPr lang="zh-TW" altLang="en-US" sz="2400" b="1" dirty="0">
                <a:solidFill>
                  <a:srgbClr val="FF0000"/>
                </a:solidFill>
              </a:rPr>
              <a:t>條通訊鏈路</a:t>
            </a:r>
            <a:r>
              <a:rPr lang="zh-TW" altLang="en-US" sz="2400" dirty="0"/>
              <a:t>，訓練 </a:t>
            </a:r>
            <a:r>
              <a:rPr lang="en-US" altLang="zh-TW" sz="2400" b="1" dirty="0">
                <a:solidFill>
                  <a:srgbClr val="FF0000"/>
                </a:solidFill>
              </a:rPr>
              <a:t>500</a:t>
            </a:r>
            <a:r>
              <a:rPr lang="zh-TW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</a:rPr>
              <a:t>Epochs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4A879C9-5122-9DE4-B746-325ABF9045FA}"/>
              </a:ext>
            </a:extLst>
          </p:cNvPr>
          <p:cNvSpPr txBox="1"/>
          <p:nvPr/>
        </p:nvSpPr>
        <p:spPr>
          <a:xfrm>
            <a:off x="10596965" y="5052915"/>
            <a:ext cx="1327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0.005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BCBD2356-EDE3-BE32-0434-D2FFFAA06D2C}"/>
              </a:ext>
            </a:extLst>
          </p:cNvPr>
          <p:cNvGrpSpPr/>
          <p:nvPr/>
        </p:nvGrpSpPr>
        <p:grpSpPr>
          <a:xfrm>
            <a:off x="8331200" y="2209107"/>
            <a:ext cx="1325995" cy="369332"/>
            <a:chOff x="8331200" y="2209107"/>
            <a:chExt cx="1325995" cy="369332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6E4D4E4E-8B93-0B8A-D249-E7ACAC92B13F}"/>
                </a:ext>
              </a:extLst>
            </p:cNvPr>
            <p:cNvSpPr txBox="1"/>
            <p:nvPr/>
          </p:nvSpPr>
          <p:spPr>
            <a:xfrm>
              <a:off x="8489661" y="2209107"/>
              <a:ext cx="11675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G4U</a:t>
              </a:r>
              <a:endParaRPr lang="zh-TW" altLang="en-US" b="1" dirty="0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DA695DEC-239A-8078-2AB4-2ADF5FB51C85}"/>
                </a:ext>
              </a:extLst>
            </p:cNvPr>
            <p:cNvSpPr/>
            <p:nvPr/>
          </p:nvSpPr>
          <p:spPr>
            <a:xfrm>
              <a:off x="8331200" y="2352040"/>
              <a:ext cx="79260" cy="87556"/>
            </a:xfrm>
            <a:prstGeom prst="ellipse">
              <a:avLst/>
            </a:prstGeom>
            <a:solidFill>
              <a:srgbClr val="7D2E8F"/>
            </a:solidFill>
            <a:ln>
              <a:solidFill>
                <a:srgbClr val="7D2E8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E124EAF8-80E4-06CB-BF1C-7CE94BFA980D}"/>
              </a:ext>
            </a:extLst>
          </p:cNvPr>
          <p:cNvGrpSpPr/>
          <p:nvPr/>
        </p:nvGrpSpPr>
        <p:grpSpPr>
          <a:xfrm>
            <a:off x="8331200" y="2593317"/>
            <a:ext cx="1325995" cy="369332"/>
            <a:chOff x="8331200" y="2593317"/>
            <a:chExt cx="1325995" cy="369332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3B2BAEBC-938A-FE6F-973F-2835A0D3ADC2}"/>
                </a:ext>
              </a:extLst>
            </p:cNvPr>
            <p:cNvSpPr txBox="1"/>
            <p:nvPr/>
          </p:nvSpPr>
          <p:spPr>
            <a:xfrm>
              <a:off x="8489661" y="2593317"/>
              <a:ext cx="11675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PG4U</a:t>
              </a:r>
              <a:endParaRPr lang="zh-TW" altLang="en-US" b="1" dirty="0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EAE822DB-A434-C1E9-70EB-A846905E6B0C}"/>
                </a:ext>
              </a:extLst>
            </p:cNvPr>
            <p:cNvSpPr/>
            <p:nvPr/>
          </p:nvSpPr>
          <p:spPr>
            <a:xfrm>
              <a:off x="8331200" y="2734205"/>
              <a:ext cx="79260" cy="87556"/>
            </a:xfrm>
            <a:prstGeom prst="ellipse">
              <a:avLst/>
            </a:prstGeom>
            <a:solidFill>
              <a:srgbClr val="EDB021"/>
            </a:solidFill>
            <a:ln>
              <a:solidFill>
                <a:srgbClr val="EDB0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0AD1742F-BED6-C571-ECF3-E38EA1F6FB88}"/>
              </a:ext>
            </a:extLst>
          </p:cNvPr>
          <p:cNvGrpSpPr/>
          <p:nvPr/>
        </p:nvGrpSpPr>
        <p:grpSpPr>
          <a:xfrm>
            <a:off x="8325513" y="2977881"/>
            <a:ext cx="2879351" cy="369332"/>
            <a:chOff x="8325513" y="2977881"/>
            <a:chExt cx="2879351" cy="369332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E87D4F3D-D5A0-EA0E-7907-6B1D9D44FF18}"/>
                </a:ext>
              </a:extLst>
            </p:cNvPr>
            <p:cNvSpPr txBox="1"/>
            <p:nvPr/>
          </p:nvSpPr>
          <p:spPr>
            <a:xfrm>
              <a:off x="8489661" y="2977881"/>
              <a:ext cx="27152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PG4U</a:t>
              </a:r>
              <a:r>
                <a:rPr lang="zh-TW" altLang="en-US" b="1" dirty="0"/>
                <a:t> </a:t>
              </a:r>
              <a:r>
                <a:rPr lang="en-US" altLang="zh-TW" b="1" dirty="0"/>
                <a:t>with Transformer</a:t>
              </a:r>
              <a:endParaRPr lang="zh-TW" altLang="en-US" b="1" dirty="0"/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C7B0E5DB-04B5-2F55-B5D0-FF25449BD7AA}"/>
                </a:ext>
              </a:extLst>
            </p:cNvPr>
            <p:cNvSpPr/>
            <p:nvPr/>
          </p:nvSpPr>
          <p:spPr>
            <a:xfrm>
              <a:off x="8325513" y="3113924"/>
              <a:ext cx="79260" cy="87556"/>
            </a:xfrm>
            <a:prstGeom prst="ellipse">
              <a:avLst/>
            </a:prstGeom>
            <a:solidFill>
              <a:srgbClr val="A3142E"/>
            </a:solidFill>
            <a:ln>
              <a:solidFill>
                <a:srgbClr val="A314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05E30DEB-44BB-D7A8-BBFB-EF9D3B47AC90}"/>
              </a:ext>
            </a:extLst>
          </p:cNvPr>
          <p:cNvGrpSpPr/>
          <p:nvPr/>
        </p:nvGrpSpPr>
        <p:grpSpPr>
          <a:xfrm>
            <a:off x="8325513" y="3342637"/>
            <a:ext cx="2879351" cy="369332"/>
            <a:chOff x="8325513" y="3342637"/>
            <a:chExt cx="2879351" cy="369332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E1D72AE8-E03A-E9A3-293A-562CDAF275AC}"/>
                </a:ext>
              </a:extLst>
            </p:cNvPr>
            <p:cNvSpPr txBox="1"/>
            <p:nvPr/>
          </p:nvSpPr>
          <p:spPr>
            <a:xfrm>
              <a:off x="8489661" y="3342637"/>
              <a:ext cx="27152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G4U with Transformer</a:t>
              </a:r>
              <a:endParaRPr lang="zh-TW" altLang="en-US" b="1" dirty="0"/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79C119FF-C0BF-DE90-280C-E12CA044CC07}"/>
                </a:ext>
              </a:extLst>
            </p:cNvPr>
            <p:cNvSpPr/>
            <p:nvPr/>
          </p:nvSpPr>
          <p:spPr>
            <a:xfrm>
              <a:off x="8325513" y="3488011"/>
              <a:ext cx="79260" cy="87556"/>
            </a:xfrm>
            <a:prstGeom prst="ellipse">
              <a:avLst/>
            </a:prstGeom>
            <a:solidFill>
              <a:srgbClr val="4DBFED"/>
            </a:solidFill>
            <a:ln>
              <a:solidFill>
                <a:srgbClr val="4DBF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369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026D6-760B-8795-B757-4D781C451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FC131AD-9938-97AE-C832-71774A60E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575462">
            <a:off x="9761265" y="-2550046"/>
            <a:ext cx="4810796" cy="56300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B8D4744-1F9E-0DAF-C7DD-C0FE5D250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6DBB"/>
                </a:solidFill>
                <a:ea typeface="+mj-lt"/>
                <a:cs typeface="+mj-lt"/>
              </a:rPr>
              <a:t>結論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28E09AD-5AF8-2B0F-1D28-3D3B70F725BA}"/>
              </a:ext>
            </a:extLst>
          </p:cNvPr>
          <p:cNvSpPr txBox="1"/>
          <p:nvPr/>
        </p:nvSpPr>
        <p:spPr>
          <a:xfrm>
            <a:off x="848360" y="2333635"/>
            <a:ext cx="10259290" cy="880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zh-TW" altLang="en-US" dirty="0">
                <a:ea typeface="+mn-lt"/>
                <a:cs typeface="+mn-lt"/>
              </a:rPr>
              <a:t>本文研究了 </a:t>
            </a:r>
            <a:r>
              <a:rPr lang="en-US" altLang="zh-TW" dirty="0" err="1">
                <a:ea typeface="+mn-lt"/>
                <a:cs typeface="+mn-lt"/>
              </a:rPr>
              <a:t>mURLLC</a:t>
            </a:r>
            <a:r>
              <a:rPr lang="en-US" altLang="zh-TW" dirty="0">
                <a:ea typeface="+mn-lt"/>
                <a:cs typeface="+mn-lt"/>
              </a:rPr>
              <a:t> </a:t>
            </a:r>
            <a:r>
              <a:rPr lang="zh-TW" altLang="en-US" dirty="0">
                <a:ea typeface="+mn-lt"/>
                <a:cs typeface="+mn-lt"/>
              </a:rPr>
              <a:t>網路中延遲可靠性折衷問題，引入 </a:t>
            </a:r>
            <a:r>
              <a:rPr lang="en-US" altLang="zh-TW" dirty="0">
                <a:ea typeface="+mn-lt"/>
                <a:cs typeface="+mn-lt"/>
              </a:rPr>
              <a:t>Transformer </a:t>
            </a:r>
            <a:r>
              <a:rPr lang="zh-TW" altLang="en-US" dirty="0">
                <a:ea typeface="+mn-lt"/>
                <a:cs typeface="+mn-lt"/>
              </a:rPr>
              <a:t>捕捉全域干擾關聯以改善 </a:t>
            </a:r>
            <a:r>
              <a:rPr lang="en-US" altLang="zh-TW" dirty="0">
                <a:ea typeface="+mn-lt"/>
                <a:cs typeface="+mn-lt"/>
              </a:rPr>
              <a:t>QoS</a:t>
            </a:r>
            <a:r>
              <a:rPr lang="zh-TW" altLang="en-US" dirty="0">
                <a:ea typeface="+mn-lt"/>
                <a:cs typeface="+mn-lt"/>
              </a:rPr>
              <a:t> </a:t>
            </a:r>
            <a:r>
              <a:rPr lang="en-US" altLang="zh-TW" dirty="0">
                <a:ea typeface="+mn-lt"/>
                <a:cs typeface="+mn-lt"/>
              </a:rPr>
              <a:t>outage probability</a:t>
            </a:r>
            <a:r>
              <a:rPr lang="zh-TW" altLang="en-US" dirty="0">
                <a:ea typeface="+mn-lt"/>
                <a:cs typeface="+mn-lt"/>
              </a:rPr>
              <a:t> </a:t>
            </a:r>
            <a:r>
              <a:rPr lang="en-US" altLang="zh-TW" dirty="0">
                <a:ea typeface="+mn-lt"/>
                <a:cs typeface="+mn-lt"/>
              </a:rPr>
              <a:t> </a:t>
            </a:r>
            <a:r>
              <a:rPr lang="zh-TW" altLang="en-US" dirty="0">
                <a:ea typeface="+mn-lt"/>
                <a:cs typeface="+mn-lt"/>
              </a:rPr>
              <a:t>表現。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A00A2EA-30DA-4607-7BB4-42785B5D2336}"/>
              </a:ext>
            </a:extLst>
          </p:cNvPr>
          <p:cNvSpPr txBox="1"/>
          <p:nvPr/>
        </p:nvSpPr>
        <p:spPr>
          <a:xfrm>
            <a:off x="1122737" y="3639783"/>
            <a:ext cx="85802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 sz="2400" b="1">
                <a:ea typeface="+mn-lt"/>
                <a:cs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dirty="0">
                <a:solidFill>
                  <a:srgbClr val="FF0000"/>
                </a:solidFill>
              </a:rPr>
              <a:t>G4U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with Transformer </a:t>
            </a:r>
            <a:r>
              <a:rPr lang="zh-TW" altLang="en-US" dirty="0"/>
              <a:t>相對改善幅度達 </a:t>
            </a:r>
            <a:r>
              <a:rPr lang="en-US" altLang="zh-TW" dirty="0">
                <a:solidFill>
                  <a:srgbClr val="FF0000"/>
                </a:solidFill>
              </a:rPr>
              <a:t>82.1%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C6BCE89-D6E2-F2CF-830A-872E9C653035}"/>
              </a:ext>
            </a:extLst>
          </p:cNvPr>
          <p:cNvSpPr txBox="1"/>
          <p:nvPr/>
        </p:nvSpPr>
        <p:spPr>
          <a:xfrm>
            <a:off x="1122736" y="4456662"/>
            <a:ext cx="85802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285750" indent="-285750">
              <a:lnSpc>
                <a:spcPct val="200000"/>
              </a:lnSpc>
              <a:buFont typeface="Wingdings"/>
              <a:buChar char="Ø"/>
              <a:defRPr sz="2400" b="1">
                <a:ea typeface="+mn-lt"/>
                <a:cs typeface="+mn-lt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dirty="0">
                <a:solidFill>
                  <a:srgbClr val="FF0000"/>
                </a:solidFill>
              </a:rPr>
              <a:t>PG4U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with Transformer </a:t>
            </a:r>
            <a:r>
              <a:rPr lang="zh-TW" altLang="en-US" dirty="0"/>
              <a:t>相對改善幅度達 </a:t>
            </a:r>
            <a:r>
              <a:rPr lang="en-US" altLang="zh-TW" dirty="0">
                <a:solidFill>
                  <a:srgbClr val="FF0000"/>
                </a:solidFill>
              </a:rPr>
              <a:t>52.4%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66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F40EA-E621-6785-6EE3-31660579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象徵物, 標誌, 商標 的圖片&#10;&#10;AI 產生的內容可能不正確。">
            <a:extLst>
              <a:ext uri="{FF2B5EF4-FFF2-40B4-BE49-F238E27FC236}">
                <a16:creationId xmlns:a16="http://schemas.microsoft.com/office/drawing/2014/main" id="{4277C8F0-AF8E-6AEC-B6F3-4F468DCB2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835" y="3427402"/>
            <a:ext cx="2576764" cy="262689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72C4522-8214-055E-4778-F1546844455F}"/>
              </a:ext>
            </a:extLst>
          </p:cNvPr>
          <p:cNvSpPr/>
          <p:nvPr/>
        </p:nvSpPr>
        <p:spPr>
          <a:xfrm>
            <a:off x="-1886" y="1"/>
            <a:ext cx="12192808" cy="3047999"/>
          </a:xfrm>
          <a:prstGeom prst="rect">
            <a:avLst/>
          </a:prstGeom>
          <a:solidFill>
            <a:srgbClr val="006D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1F33CEA-E6E8-0476-A5CA-A95507F8688D}"/>
              </a:ext>
            </a:extLst>
          </p:cNvPr>
          <p:cNvSpPr txBox="1"/>
          <p:nvPr/>
        </p:nvSpPr>
        <p:spPr>
          <a:xfrm>
            <a:off x="6466" y="414130"/>
            <a:ext cx="12189439" cy="30162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7100" b="1">
                <a:solidFill>
                  <a:srgbClr val="FFFFFF"/>
                </a:solidFill>
                <a:latin typeface="PMingLiU"/>
                <a:ea typeface="PMingLiU"/>
              </a:rPr>
              <a:t>融合</a:t>
            </a:r>
            <a:r>
              <a:rPr lang="en-US" altLang="zh-TW" sz="7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GNN</a:t>
            </a:r>
            <a:r>
              <a:rPr lang="zh-TW" altLang="en-US" sz="7100" b="1">
                <a:solidFill>
                  <a:srgbClr val="FFFFFF"/>
                </a:solidFill>
                <a:latin typeface="PMingLiU"/>
                <a:ea typeface="PMingLiU"/>
              </a:rPr>
              <a:t>與</a:t>
            </a:r>
            <a:r>
              <a:rPr lang="zh-TW" sz="7100" b="1">
                <a:solidFill>
                  <a:srgbClr val="FFFFFF"/>
                </a:solidFill>
                <a:latin typeface="Calibri"/>
                <a:cs typeface="Calibri"/>
              </a:rPr>
              <a:t>Ta</a:t>
            </a:r>
            <a:r>
              <a:rPr lang="en-US" altLang="zh-TW" sz="7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</a:t>
            </a:r>
            <a:r>
              <a:rPr lang="zh-TW" sz="7100" b="1">
                <a:solidFill>
                  <a:srgbClr val="FFFFFF"/>
                </a:solidFill>
                <a:latin typeface="Calibri"/>
                <a:cs typeface="Calibri"/>
              </a:rPr>
              <a:t>nsformer</a:t>
            </a:r>
            <a:r>
              <a:rPr lang="zh-TW" altLang="en-US" sz="7100" b="1">
                <a:solidFill>
                  <a:srgbClr val="FFFFFF"/>
                </a:solidFill>
                <a:latin typeface="PMingLiU"/>
                <a:ea typeface="PMingLiU"/>
              </a:rPr>
              <a:t>技術的智能網路優化</a:t>
            </a:r>
            <a:endParaRPr lang="zh-TW" altLang="en-US"/>
          </a:p>
          <a:p>
            <a:pPr algn="ctr"/>
            <a:endParaRPr lang="zh-TW" sz="4800" b="1" dirty="0">
              <a:solidFill>
                <a:srgbClr val="FFFFFF"/>
              </a:solidFill>
              <a:ea typeface="新細明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1B5CD1C-8DC3-A732-C26F-FCD4167194EF}"/>
              </a:ext>
            </a:extLst>
          </p:cNvPr>
          <p:cNvSpPr txBox="1"/>
          <p:nvPr/>
        </p:nvSpPr>
        <p:spPr>
          <a:xfrm>
            <a:off x="621655" y="3643064"/>
            <a:ext cx="1035878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4800" b="1" dirty="0"/>
              <a:t>Thank You</a:t>
            </a:r>
            <a:endParaRPr lang="zh-TW" altLang="en-US" b="1" dirty="0"/>
          </a:p>
        </p:txBody>
      </p:sp>
      <p:pic>
        <p:nvPicPr>
          <p:cNvPr id="13" name="圖片 12" descr="一張含有 圖形, 圓形, 美工圖案, 平面設計 的圖片&#10;&#10;AI 產生的內容可能不正確。">
            <a:extLst>
              <a:ext uri="{FF2B5EF4-FFF2-40B4-BE49-F238E27FC236}">
                <a16:creationId xmlns:a16="http://schemas.microsoft.com/office/drawing/2014/main" id="{CF0B72F8-DB7F-6FC4-EA4E-C974AD23BE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38" t="18830" r="16085" b="18866"/>
          <a:stretch>
            <a:fillRect/>
          </a:stretch>
        </p:blipFill>
        <p:spPr>
          <a:xfrm>
            <a:off x="2835" y="3860417"/>
            <a:ext cx="2869093" cy="1769102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BD19DC42-9759-4508-53CD-EFCB0AF34C7C}"/>
              </a:ext>
            </a:extLst>
          </p:cNvPr>
          <p:cNvSpPr txBox="1"/>
          <p:nvPr/>
        </p:nvSpPr>
        <p:spPr>
          <a:xfrm>
            <a:off x="2873829" y="5246914"/>
            <a:ext cx="6096000" cy="16132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2025"/>
              </a:lnSpc>
            </a:pPr>
            <a:r>
              <a:rPr lang="zh-TW" sz="2400" baseline="0">
                <a:latin typeface="Microsoft JhengHei"/>
                <a:ea typeface="Microsoft JhengHei"/>
                <a:cs typeface="Segoe UI"/>
              </a:rPr>
              <a:t>陳世汶, 林庭緯</a:t>
            </a:r>
            <a:r>
              <a:rPr lang="zh-TW" sz="2400">
                <a:latin typeface="Microsoft JhengHei"/>
                <a:ea typeface="Microsoft JhengHei"/>
                <a:cs typeface="Segoe UI"/>
              </a:rPr>
              <a:t>​</a:t>
            </a:r>
          </a:p>
          <a:p>
            <a:pPr algn="ctr" rtl="0">
              <a:lnSpc>
                <a:spcPts val="2025"/>
              </a:lnSpc>
            </a:pPr>
            <a:r>
              <a:rPr lang="zh-TW" sz="2400">
                <a:latin typeface="Microsoft JhengHei"/>
                <a:ea typeface="Microsoft JhengHei"/>
                <a:cs typeface="Segoe UI"/>
              </a:rPr>
              <a:t>​</a:t>
            </a:r>
          </a:p>
          <a:p>
            <a:pPr algn="ctr" rtl="0">
              <a:lnSpc>
                <a:spcPts val="1650"/>
              </a:lnSpc>
            </a:pPr>
            <a:r>
              <a:rPr lang="zh-TW" sz="2000" i="1" baseline="0">
                <a:latin typeface="Microsoft JhengHei"/>
                <a:ea typeface="Microsoft JhengHei"/>
                <a:cs typeface="Segoe UI"/>
              </a:rPr>
              <a:t>資訊工程學系</a:t>
            </a:r>
            <a:r>
              <a:rPr lang="en-US" sz="2000" i="1" baseline="0" dirty="0">
                <a:latin typeface="Microsoft JhengHei"/>
                <a:ea typeface="Segoe UI"/>
                <a:cs typeface="Segoe UI"/>
              </a:rPr>
              <a:t>-</a:t>
            </a:r>
            <a:r>
              <a:rPr lang="zh-TW" sz="2000" i="1" baseline="0">
                <a:latin typeface="Microsoft JhengHei"/>
                <a:ea typeface="Microsoft JhengHei"/>
                <a:cs typeface="Segoe UI"/>
              </a:rPr>
              <a:t>靜宜大學</a:t>
            </a:r>
            <a:r>
              <a:rPr lang="zh-TW" sz="2000">
                <a:latin typeface="Microsoft JhengHei"/>
                <a:ea typeface="Microsoft JhengHei"/>
                <a:cs typeface="Segoe UI"/>
              </a:rPr>
              <a:t>​</a:t>
            </a:r>
          </a:p>
          <a:p>
            <a:pPr algn="ctr" rtl="0">
              <a:lnSpc>
                <a:spcPts val="2025"/>
              </a:lnSpc>
            </a:pPr>
            <a:r>
              <a:rPr lang="zh-TW" sz="2400">
                <a:latin typeface="Microsoft JhengHei"/>
                <a:ea typeface="Microsoft JhengHei"/>
                <a:cs typeface="Segoe UI"/>
              </a:rPr>
              <a:t>​</a:t>
            </a:r>
          </a:p>
          <a:p>
            <a:pPr algn="ctr" rtl="0">
              <a:lnSpc>
                <a:spcPts val="2025"/>
              </a:lnSpc>
            </a:pPr>
            <a:r>
              <a:rPr lang="zh-TW" sz="2400" baseline="0">
                <a:latin typeface="Microsoft JhengHei"/>
                <a:ea typeface="Microsoft JhengHei"/>
                <a:cs typeface="Segoe UI"/>
              </a:rPr>
              <a:t>指導老師:劉建興</a:t>
            </a:r>
          </a:p>
          <a:p>
            <a:pPr algn="ctr"/>
            <a:endParaRPr lang="zh-TW" altLang="en-US" dirty="0"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19724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2273</TotalTime>
  <Words>1316</Words>
  <Application>Microsoft Office PowerPoint</Application>
  <PresentationFormat>寬螢幕</PresentationFormat>
  <Paragraphs>170</Paragraphs>
  <Slides>19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Microsoft JhengHei</vt:lpstr>
      <vt:lpstr>PMingLiU</vt:lpstr>
      <vt:lpstr>Arial</vt:lpstr>
      <vt:lpstr>Calibri</vt:lpstr>
      <vt:lpstr>Cambria Math</vt:lpstr>
      <vt:lpstr>Wingdings</vt:lpstr>
      <vt:lpstr>Office 佈景主題</vt:lpstr>
      <vt:lpstr>PowerPoint 簡報</vt:lpstr>
      <vt:lpstr>目錄</vt:lpstr>
      <vt:lpstr>背景</vt:lpstr>
      <vt:lpstr>𝐾 鏈路的 mURLLC 網路圖形</vt:lpstr>
      <vt:lpstr>SINR 定義</vt:lpstr>
      <vt:lpstr>BLER 公式：將 SINR 轉換為錯誤率</vt:lpstr>
      <vt:lpstr>Optimization Problem</vt:lpstr>
      <vt:lpstr>架構形成</vt:lpstr>
      <vt:lpstr>G4U with Transformer 架構</vt:lpstr>
      <vt:lpstr>現有 GNN 架構</vt:lpstr>
      <vt:lpstr>現有 GNN 架構</vt:lpstr>
      <vt:lpstr>目前解決方案的局限性？</vt:lpstr>
      <vt:lpstr>Token 建構與 Q / K / V 投影</vt:lpstr>
      <vt:lpstr>OTA 聚合全域統計</vt:lpstr>
      <vt:lpstr>Transformer 精煉堪入</vt:lpstr>
      <vt:lpstr>QoS Outage Probability</vt:lpstr>
      <vt:lpstr>實驗結果</vt:lpstr>
      <vt:lpstr>結論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林庭緯</cp:lastModifiedBy>
  <cp:revision>316</cp:revision>
  <dcterms:created xsi:type="dcterms:W3CDTF">2025-10-13T00:52:29Z</dcterms:created>
  <dcterms:modified xsi:type="dcterms:W3CDTF">2025-12-04T09:31:04Z</dcterms:modified>
</cp:coreProperties>
</file>